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377440"/>
          </a:xfrm>
          <a:prstGeom prst="rect">
            <a:avLst/>
          </a:prstGeom>
          <a:solidFill>
            <a:srgbClr val="0D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OVERVIEW PROSES ALUR BISNIS</a:t>
            </a:r>
          </a:p>
          <a:p>
            <a:pPr algn="ctr">
              <a:defRPr sz="4400" b="1">
                <a:solidFill>
                  <a:srgbClr val="C68A02"/>
                </a:solidFill>
                <a:latin typeface="Calibri"/>
              </a:defRPr>
            </a:pPr>
            <a:r>
              <a:t>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5D6A7"/>
                </a:solidFill>
                <a:latin typeface="Calibri"/>
              </a:defRPr>
            </a:pPr>
            <a:r>
              <a:t>Dari Kebun Tebu hingga Distribusi Gula — Panduan Operasional untuk Pemula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1C784"/>
                </a:solidFill>
                <a:latin typeface="Calibri"/>
              </a:defRPr>
            </a:pPr>
            <a:r>
              <a:t>Presentasi Kerja Praktik |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Agenda Presentasi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Pengantar Industri Gula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Alur Bisnis End-to-End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Penerimaan Bahan Baku &amp; Tebu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Persiapan Tebu &amp; Penggilingan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Pemurnian Nira (Clarification)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6. Penguapan (Evaporation)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7. Kristalisasi &amp; Vacuum 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8. Sentrifugasi &amp; Pemisahan Gula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9. Pengeringan, Pengemasan &amp; Penyimpanan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10. Utilitas &amp; Sistem Pendukung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11. Alur Bisnis &amp; Operasional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12. Tantangan Operasional Pabrik Gula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13. Rangkuman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1188720"/>
            <a:ext cx="137160" cy="566928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PENGANTAR INDUSTRI GULA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Apa itu Pabrik Gula &amp; Perannya dalam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Pabrik gula = industri terintegrasi: dari kebun tebu → proses → distribusi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Output utama: Gula Kristal Putih (SHS) dengan pol ≥99,3%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4 produk samping: molasses, bagasse, blotong, listrik (15–25% revenue)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Produksi nasional: ~2,2 juta ton/tahun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Konsumsi nasional: ~5–6 juta ton/tahun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Impor: ~50% dari kebutuhan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Pabrik aktif di Indonesia: ~60 unit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Musim giling: April – November (6–7 bulan)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▪ Off-season: maintenance &amp; overhaul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3474720" cy="9144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Rendemen Target</a:t>
            </a:r>
            <a:br/>
            <a:r>
              <a:t>8–10%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743200"/>
            <a:ext cx="3474720" cy="91440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Kapasitas Giling</a:t>
            </a:r>
            <a:br/>
            <a:r>
              <a:t>3.000–6.000 TCD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840480"/>
            <a:ext cx="3474720" cy="914400"/>
          </a:xfrm>
          <a:prstGeom prst="roundRect">
            <a:avLst/>
          </a:prstGeom>
          <a:solidFill>
            <a:srgbClr val="6D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Lead Time</a:t>
            </a:r>
            <a:br/>
            <a:r>
              <a:t>24–48 jam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937760"/>
            <a:ext cx="3474720" cy="9144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Margin EBITDA</a:t>
            </a:r>
            <a:br/>
            <a:r>
              <a:t>15–25%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ALUR BISNIS END-TO-END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High-Level Process Flow — Dari Kebun hingga Konsumen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Penanaman</a:t>
            </a:r>
            <a:br/>
            <a:r>
              <a:t>Tebu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02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10-14 bln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3160" y="201168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40" y="1645920"/>
            <a:ext cx="192024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Tebang &amp;</a:t>
            </a:r>
            <a:br/>
            <a:r>
              <a:t>Angkut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702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&lt;24 jam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01168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Penerimaan</a:t>
            </a:r>
            <a:br/>
            <a:r>
              <a:t>&amp; Timbang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702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Cek Pol/Brix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40" y="201168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1645920"/>
            <a:ext cx="192024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Penggilingan</a:t>
            </a:r>
            <a:br/>
            <a:r>
              <a:t>(Milling)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702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Ekstraksi Nira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55480" y="201168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6960" y="164592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Pemurnian</a:t>
            </a:r>
            <a:br/>
            <a:r>
              <a:t>(Clarification)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702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Hilangkan Impuritas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92024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Penguapan</a:t>
            </a:r>
            <a:br/>
            <a:r>
              <a:t>(Evaporation)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71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Brix 12%→65%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23160" y="448056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34640" y="411480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Kristalisasi</a:t>
            </a:r>
            <a:br/>
            <a:r>
              <a:t>(Vacuum Pan)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171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Bentuk Kristal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00600" y="448056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2080" y="4114800"/>
            <a:ext cx="192024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Sentrifugasi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171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Pisah Kristal</a:t>
            </a:r>
            <a:br/>
            <a:r>
              <a:t>&amp; Molasses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78040" y="448056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411480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Pengeringan</a:t>
            </a:r>
            <a:br/>
            <a:r>
              <a:t>&amp; Packing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171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Kadar Air &lt;0,5%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55480" y="448056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60" y="4114800"/>
            <a:ext cx="192024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Distribusi</a:t>
            </a:r>
            <a:br/>
            <a:r>
              <a:t>&amp; Penjualan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171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57575"/>
                </a:solidFill>
                <a:latin typeface="Calibri"/>
              </a:defRPr>
            </a:pPr>
            <a:r>
              <a:t>Gudang → Pasar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760720" y="3017520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852160"/>
            <a:ext cx="109728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Total lead time tebu tebang → gula jadi = 24–48 jam. Setiap jam delay = pol turun 0,1%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PENERIMAAN BAHAN BAKU &amp; TEBU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Farmer Supply → Transportasi → Unloading → Cane Yard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Tebu ditanam 10–14 bulan sebelum dipanen (ratoon/plant cane)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Petani/supplier mengirim tebu via truk ke pabrik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Tebu harus digiling &lt;24 jam setelah tebang (cegah pol turun)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Proses Penerimaan: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1. Penimbangan truk (brutto &amp; tarra)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2. Sampling &amp; analisis (pol, brix, trash %)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3. Unloading dengan cane tipper / crane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4. Penyimpanan sementara di cane yard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Cane yard mengatur antrian FIFO (first-in first-out)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Target: antrian maksimal 12–24 jam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645920"/>
            <a:ext cx="3200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Petani / Kebun</a:t>
            </a:r>
          </a:p>
        </p:txBody>
      </p:sp>
      <p:sp>
        <p:nvSpPr>
          <p:cNvPr id="5" name="Down Arrow 4"/>
          <p:cNvSpPr/>
          <p:nvPr/>
        </p:nvSpPr>
        <p:spPr>
          <a:xfrm>
            <a:off x="9692640" y="23042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2606040"/>
            <a:ext cx="320040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Transportasi Truk</a:t>
            </a:r>
          </a:p>
        </p:txBody>
      </p:sp>
      <p:sp>
        <p:nvSpPr>
          <p:cNvPr id="7" name="Down Arrow 6"/>
          <p:cNvSpPr/>
          <p:nvPr/>
        </p:nvSpPr>
        <p:spPr>
          <a:xfrm>
            <a:off x="9692640" y="32644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3566160"/>
            <a:ext cx="3200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Timbangan &amp; QC</a:t>
            </a:r>
          </a:p>
        </p:txBody>
      </p:sp>
      <p:sp>
        <p:nvSpPr>
          <p:cNvPr id="9" name="Down Arrow 8"/>
          <p:cNvSpPr/>
          <p:nvPr/>
        </p:nvSpPr>
        <p:spPr>
          <a:xfrm>
            <a:off x="9692640" y="422452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4526280"/>
            <a:ext cx="320040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Unloading (Tipper)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692640" y="518464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5486400"/>
            <a:ext cx="3200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Cane Yard / Lori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Kualitas tebu saat diterima menentukan rendemen akhir pabrik.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PERSIAPAN TEBU &amp; PENGGILINGAN (MILLING)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Cane Carrier → Knives/Shredder → Milling Tandem → Nira Mentah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Cane Carrier: konveyor membawa tebu ke stasiun gilingan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Cane Knife (pisau tebu): memotong tebu jadi potongan kecil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Shredder/Unigrator: mencacah serat tebu agar sel terbuka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Milling Tandem (4–6 unit gilingan):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Setiap unit = 3 roll (top, feed, discharge)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Imbibisi air panas untuk maksimalkan ekstraksi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Hasil: Nira Mentah (mixed juice) + Ampas (bagasse)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Target Recovery Pol: 92–96%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Kapasitas: 3.000–6.000 TCD (Ton Cane per Day)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645920"/>
            <a:ext cx="320040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Cane Carrier</a:t>
            </a:r>
          </a:p>
        </p:txBody>
      </p:sp>
      <p:sp>
        <p:nvSpPr>
          <p:cNvPr id="5" name="Down Arrow 4"/>
          <p:cNvSpPr/>
          <p:nvPr/>
        </p:nvSpPr>
        <p:spPr>
          <a:xfrm>
            <a:off x="9692640" y="23042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2606040"/>
            <a:ext cx="3200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Cane Knife</a:t>
            </a:r>
          </a:p>
        </p:txBody>
      </p:sp>
      <p:sp>
        <p:nvSpPr>
          <p:cNvPr id="7" name="Down Arrow 6"/>
          <p:cNvSpPr/>
          <p:nvPr/>
        </p:nvSpPr>
        <p:spPr>
          <a:xfrm>
            <a:off x="9692640" y="32644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3566160"/>
            <a:ext cx="320040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Shredder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9692640" y="422452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4526280"/>
            <a:ext cx="3200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Gilingan 1-2-3-4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692640" y="518464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5486400"/>
            <a:ext cx="320040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Nira Mentah</a:t>
            </a:r>
            <a:br/>
            <a:r>
              <a:t>+ Bagasse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100 ton tebu → ~30 ton bagasse (bahan bakar) + nira untuk diproses lebih lanjut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PEMURNIAN NIRA (CLARIFICATION)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Penghilangan Impuritas → Pemanasan → Nira Jernih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Nira mentah mengandung gula + kotoran (tanah, lilin, protein)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Tujuan: menghasilkan nira jernih (clear juice) untuk diuapkan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Proses Utama: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1. Pre-liming: penambahan susu kapur Ca(OH)₂ → pH ~7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2. Sulfitasi (opsional): SO₂ untuk pemucatan warna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3. Pemanasan (juice heater): 100–105°C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4. Flash tank: lepas udara terlarut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5. Clarifier (pengendapan): kotoran mengendap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6. Rotary Vacuum Filter: saring endapan → blotong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Output: Nira Jernih (clear juice) → ke evaporator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By-product: Blotong (filter cake) → pupuk organik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645920"/>
            <a:ext cx="301752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Nira Mentah</a:t>
            </a:r>
          </a:p>
        </p:txBody>
      </p:sp>
      <p:sp>
        <p:nvSpPr>
          <p:cNvPr id="5" name="Down Arrow 4"/>
          <p:cNvSpPr/>
          <p:nvPr/>
        </p:nvSpPr>
        <p:spPr>
          <a:xfrm>
            <a:off x="9784080" y="23042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2606040"/>
            <a:ext cx="301752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Liming + Sulfitasi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84080" y="32644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3566160"/>
            <a:ext cx="301752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Juice Heater</a:t>
            </a:r>
            <a:br/>
            <a:r>
              <a:t>(100-105°C)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84080" y="422452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4526280"/>
            <a:ext cx="301752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Clarifier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84080" y="518464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01752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Nira Jernih →</a:t>
            </a:r>
            <a:br/>
            <a:r>
              <a:t>Evaporator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4360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Blotong bukan limbah — dijual sebagai pupuk organik (2–3% revenue tambahan)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PENGUAPAN (EVAPORATION)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Konsentrasi Nira — Multiple Effect Evaporator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Tujuan: menguapkan air dari nira jernih → nira kental (thick juice/syrup)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Brix naik dari ~12% → ~65% (konsentrasi gula meningkat)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Sistem: Multiple Effect Evaporator (MEE)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Biasanya 4–5 badan (effect/vessel)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Uap dari badan 1 digunakan memanaskan badan 2, dst.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Efisiensi energi: 1 kg uap bisa menguapkan 4–5 kg air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Prinsip kerja: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Tekanan menurun tiap badan (vakum progresif)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Titik didih turun → penguapan tetap terjadi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Badan terakhir beroperasi di bawah vakum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Output: Nira Kental (syrup) siap masuk vacuum pan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486400"/>
            <a:ext cx="2011680" cy="8229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Effect 1</a:t>
            </a:r>
            <a:br/>
            <a:r>
              <a:t>(Tekanan</a:t>
            </a:r>
            <a:br/>
            <a:r>
              <a:t>Tinggi)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40" y="576072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5486400"/>
            <a:ext cx="2011680" cy="8229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Effect 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83480" y="576072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5486400"/>
            <a:ext cx="2011680" cy="8229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Effect 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576072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5486400"/>
            <a:ext cx="2011680" cy="8229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Effect 4</a:t>
            </a:r>
            <a:br/>
            <a:r>
              <a:t>(Vakum)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38360" y="5760720"/>
            <a:ext cx="365760" cy="274320"/>
          </a:xfrm>
          <a:prstGeom prst="right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0" y="5486400"/>
            <a:ext cx="2011680" cy="82296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Nira</a:t>
            </a:r>
            <a:br/>
            <a:r>
              <a:t>Kental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KRISTALISASI &amp; VACUUM PAN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Pembentukan Kristal Gula — Massecuite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Tujuan: membentuk kristal gula dari nira kental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Dilakukan dalam Vacuum Pan (bejana vakum)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Proses: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1. Nira kental dimasukkan ke vacuum pan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2. Pemanasan vakum → penguapan air lanjut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3. Penambahan bibit kristal (seed/fondan)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4. Kristal tumbuh perlahan dalam larutan induk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5. Hasil: Massecuite (campuran kristal + mother liquor)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Sistem Masakan (bertingkat):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Masakan A: kristal terbesar, kualitas terbaik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Masakan B: kristal sedang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Masakan C/D: kristal kecil (diputar ulang)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Massecuite A → sentrifugasi → Gula SHS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828800"/>
            <a:ext cx="3017520" cy="73152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Nira Kental</a:t>
            </a:r>
            <a:br/>
            <a:r>
              <a:t>(Syrup)</a:t>
            </a:r>
          </a:p>
        </p:txBody>
      </p:sp>
      <p:sp>
        <p:nvSpPr>
          <p:cNvPr id="5" name="Down Arrow 4"/>
          <p:cNvSpPr/>
          <p:nvPr/>
        </p:nvSpPr>
        <p:spPr>
          <a:xfrm>
            <a:off x="9784080" y="25786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017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Vacuum Pan</a:t>
            </a:r>
            <a:br/>
            <a:r>
              <a:t>(Masakan A/B/C)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84080" y="36758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4023360"/>
            <a:ext cx="3017520" cy="73152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Massecuite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84080" y="477316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5120640"/>
            <a:ext cx="3017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Sentrifugasi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Kristalisasi bertingkat memaksimalkan recovery — gula yang tidak terkristal diproses ulang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SENTRIFUGASI &amp; PEMISAHAN GULA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Memisahkan Kristal Gula dari Molasses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Tujuan: memisahkan kristal gula murni dari larutan induk (molasses)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Alat: Centrifugal / Putaran (basket type, batch/continuous)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Proses: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1. Massecuite dimasukkan ke basket centrifugal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2. Putaran tinggi (1.000–1.500 rpm)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3. Gaya sentrifugal mendorong molasses keluar melalui saringan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4. Kristal gula tertahan di dalam basket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5. Pencucian (steam/water wash) untuk poles kristal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Hasil: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Kristal gula basah → ke pengering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Molasses A → masakan B (recycle)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Final Molasses (tetes akhir) → dijual (pakan, etanol)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100 ton tebu → ~4–5 ton molasses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828800"/>
            <a:ext cx="3017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Massecuite</a:t>
            </a:r>
          </a:p>
        </p:txBody>
      </p:sp>
      <p:sp>
        <p:nvSpPr>
          <p:cNvPr id="5" name="Down Arrow 4"/>
          <p:cNvSpPr/>
          <p:nvPr/>
        </p:nvSpPr>
        <p:spPr>
          <a:xfrm>
            <a:off x="9784080" y="25786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017520" cy="73152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Centrifugal</a:t>
            </a:r>
            <a:br/>
            <a:r>
              <a:t>(1000-1500 rpm)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84080" y="36758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4023360"/>
            <a:ext cx="3017520" cy="73152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Kristal Gula</a:t>
            </a:r>
            <a:br/>
            <a:r>
              <a:t>(basah)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84080" y="477316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5120640"/>
            <a:ext cx="3017520" cy="73152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Molasses</a:t>
            </a:r>
            <a:br/>
            <a:r>
              <a:t>(tetes)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PENGERINGAN, PENGEMASAN &amp; PENYIMPANAN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Finishing Process — Sugar Drying, Packing, Warehouse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Pengeringan (Sugar Dryer):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Kristal gula basah dilewatkan rotary dryer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Udara panas mengurangi kadar air hingga &lt;0,5%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Dilanjutkan cooler → suhu turun ke ambient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Grading &amp; Screening: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Ayakan memisahkan ukuran kristal (halus/kasar)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Gula off-spec dilebur ulang (re-melt)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Pengemasan: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Standar: karung 50 kg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Automatic weighing &amp; sewing machine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Labeling: batch, tanggal produksi, pol, ICUMSA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Gudang Penyimpanan: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Suhu &amp; kelembaban terkontrol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FIFO system, pallet stacking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Siap distribusi ke pasar/industri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64592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Kristal Basah</a:t>
            </a:r>
          </a:p>
        </p:txBody>
      </p:sp>
      <p:sp>
        <p:nvSpPr>
          <p:cNvPr id="5" name="Down Arrow 4"/>
          <p:cNvSpPr/>
          <p:nvPr/>
        </p:nvSpPr>
        <p:spPr>
          <a:xfrm>
            <a:off x="9784080" y="23042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2606040"/>
            <a:ext cx="301752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Rotary Dryer</a:t>
            </a:r>
            <a:br/>
            <a:r>
              <a:t>&amp; Cooler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84080" y="32644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356616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Grading</a:t>
            </a:r>
            <a:br/>
            <a:r>
              <a:t>(Screening)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84080" y="422452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4526280"/>
            <a:ext cx="3017520" cy="6400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Pengemasan</a:t>
            </a:r>
            <a:br/>
            <a:r>
              <a:t>(50 kg)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84080" y="518464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Gudang</a:t>
            </a:r>
            <a:br/>
            <a:r>
              <a:t>(Distribusi)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UTILITAS &amp; SISTEM PENDUKUNG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Steam, Boiler, Turbine, Bagasse &amp; Energy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Pabrik gula hampir self-sufficient untuk energi!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Siklus Energi (Cogeneration):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1. Bagasse (ampas tebu) → dibakar di Boiler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2. Boiler → menghasilkan uap bertekanan tinggi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3. Uap → menggerakkan Turbin → listrik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4. Exhaust steam → proses (evaporator, vacuum pan, heater)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Data Kunci: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100 ton tebu → ~30 ton bagasse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Bagasse = 100% bahan bakar boiler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Surplus listrik → dijual ke PLN (3–5% revenue)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Utilitas Lainnya: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Water treatment plant (air proses &amp; imbibisi)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Workshop &amp; bengkel (maintenance)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Laboratorium QC (analisis pol, brix, ICUMSA)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64592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Bagasse</a:t>
            </a:r>
            <a:br/>
            <a:r>
              <a:t>(Ampas Tebu)</a:t>
            </a:r>
          </a:p>
        </p:txBody>
      </p:sp>
      <p:sp>
        <p:nvSpPr>
          <p:cNvPr id="5" name="Down Arrow 4"/>
          <p:cNvSpPr/>
          <p:nvPr/>
        </p:nvSpPr>
        <p:spPr>
          <a:xfrm>
            <a:off x="9784080" y="230428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2606040"/>
            <a:ext cx="3017520" cy="64008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Boiler</a:t>
            </a:r>
            <a:br/>
            <a:r>
              <a:t>(Pembakaran)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84080" y="326440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356616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Uap Tekanan</a:t>
            </a:r>
            <a:br/>
            <a:r>
              <a:t>Tinggi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84080" y="422452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4526280"/>
            <a:ext cx="3017520" cy="64008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Turbin</a:t>
            </a:r>
            <a:br/>
            <a:r>
              <a:t>(Listrik)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84080" y="5184648"/>
            <a:ext cx="274320" cy="320040"/>
          </a:xfrm>
          <a:prstGeom prst="downArrow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017520" cy="640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Exhaust Steam</a:t>
            </a:r>
            <a:br/>
            <a:r>
              <a:t>→ Proses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Pabrik gula = pembangkit listrik sendiri. Bagasse menggantikan bahan bakar fosil.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ALUR BISNIS &amp; OPERASIONAL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Koordinasi, Logistik, Penjadwalan &amp;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6 Divisi Operasional: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Tanaman | Pabrikasi | Instalasi | Keuangan | SDM | Pemasaran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Koordinasi Operasional: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Operasi 24/7 saat musim giling (shift 3×8 jam)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Meeting harian: target giling vs aktual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Komunikasi real-time antar stasiun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Logistik &amp; Distribusi: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Inbound: penjadwalan angkutan tebu dari kebun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Outbound: pengiriman gula ke distributor/industri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FIFO untuk inventori gudang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Quality Control: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Lab menganalisis di setiap stasiun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Parameter: pol, brix, ICUMSA, kadar air, warna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   – Target losses keseluruhan: &lt;2,5%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011680"/>
            <a:ext cx="3474720" cy="10972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HARIAN</a:t>
            </a:r>
            <a:br/>
            <a:r>
              <a:t>Kapasitas giling, rendemen,</a:t>
            </a:r>
            <a:br/>
            <a:r>
              <a:t>antrian tebu,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474720"/>
            <a:ext cx="3474720" cy="10972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MINGGUAN</a:t>
            </a:r>
            <a:br/>
            <a:r>
              <a:t>Target vs actual, K3,</a:t>
            </a:r>
            <a:br/>
            <a:r>
              <a:t>analisis losses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937760"/>
            <a:ext cx="3474720" cy="109728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BULANAN</a:t>
            </a:r>
            <a:br/>
            <a:r>
              <a:t>Cash flow, EBITDA,</a:t>
            </a:r>
            <a:br/>
            <a:r>
              <a:t>efisiensi energi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035040"/>
            <a:ext cx="73152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68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200" b="1">
                <a:solidFill>
                  <a:srgbClr val="6D4C00"/>
                </a:solidFill>
                <a:latin typeface="Calibri"/>
              </a:defRPr>
            </a:pPr>
            <a:r>
              <a:t>💡 Key Takeaway: Manajemen memonitor 3 layer: harian (operasional), mingguan (kualitas), bulanan (finansial)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TANTANGAN OPERASIONAL PABRIK GULA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Hambatan Industri &amp; Bottleneck Produksi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⚠️ BOTTLENECK OPERASIONAL: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Kualitas tebu rendah (pol &lt;8%)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Breakdown mesin gilingan/boiler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Antrian tebu terlalu lama (pol turun)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Cuaca (hujan ganggu tebang/angkut)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SDM operator terbatas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Kapasitas terbatas vs pasokan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Mitigasi: preventive maintenance,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QC ketat di emplasement, training SDM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⚠️ TANTANGAN INDUSTRI: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Produktivitas rendah (RI 6-8% vs Thailand 10-12%)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Impor tinggi (~50% kebutuhan nasional)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Teknologi tua (mesin &gt;30 tahun)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Margin tipis (HPP tinggi vs harga regulasi)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Perubahan iklim (kemarau/banjir)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▪ Regenerasi petani tebu menurun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Akar masalah: PRODUKTIVITAS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→ itulah sebab impor tetap tinggi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0"/>
            <a:ext cx="2743200" cy="10058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Digitalisasi</a:t>
            </a:r>
            <a:br/>
            <a:r>
              <a:t>(IoT/SCADA/AI)</a:t>
            </a:r>
            <a:br/>
            <a:r>
              <a:t>+10-15% efisiensi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669280"/>
            <a:ext cx="2743200" cy="10058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Modernisasi</a:t>
            </a:r>
            <a:br/>
            <a:r>
              <a:t>Mesin</a:t>
            </a:r>
            <a:br/>
            <a:r>
              <a:t>+1-2% rendemen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669280"/>
            <a:ext cx="2743200" cy="10058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Co-generation</a:t>
            </a:r>
            <a:br/>
            <a:r>
              <a:t>Listrik</a:t>
            </a:r>
            <a:br/>
            <a:r>
              <a:t>+5-10%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5669280"/>
            <a:ext cx="2743200" cy="10058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Diversifikasi</a:t>
            </a:r>
            <a:br/>
            <a:r>
              <a:t>(Bioetanol, Refined)</a:t>
            </a:r>
            <a:br/>
            <a:r>
              <a:t>+15-25% revenue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lIns="50800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RANGKUMAN &amp; KEY TAKEAWAYS</a:t>
            </a:r>
          </a:p>
          <a:p>
            <a:pPr>
              <a:defRPr sz="1400">
                <a:solidFill>
                  <a:srgbClr val="C8E6C9"/>
                </a:solidFill>
                <a:latin typeface="Calibri"/>
              </a:defRPr>
            </a:pPr>
            <a:r>
              <a:t>5 Poin Penting yang Harus Diingat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" cy="5486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5E20"/>
                </a:solidFill>
                <a:latin typeface="Calibri"/>
              </a:defRPr>
            </a:pPr>
            <a:r>
              <a:t>Bisnis Terintegrasi</a:t>
            </a:r>
          </a:p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Pabrik gula = hulu (kebun) + proses (pabrik) + hilir (distribusi). Satu rantai nilai yang saling tergantung.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4864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Calibri"/>
              </a:defRPr>
            </a:pPr>
            <a:r>
              <a:t>Multi-Revenue Stream</a:t>
            </a:r>
          </a:p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Bukan hanya gula — molasses, bagasse, blotong, dan listrik menyumbang 15–25% revenue tambahan.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548640" cy="5486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B342"/>
                </a:solidFill>
                <a:latin typeface="Calibri"/>
              </a:defRPr>
            </a:pPr>
            <a:r>
              <a:t>KPI Raja = Rendemen</a:t>
            </a:r>
          </a:p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Target 8–10%. Kenaikan 1% rendemen = peningkatan profit signifikan. Semua stasiun berkontribusi.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548640" cy="548640"/>
          </a:xfrm>
          <a:prstGeom prst="round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80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8A02"/>
                </a:solidFill>
                <a:latin typeface="Calibri"/>
              </a:defRPr>
            </a:pPr>
            <a:r>
              <a:t>Tantangan Nyata</a:t>
            </a:r>
          </a:p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Produktivitas rendah, teknologi tua, margin tipis. Indonesia masih impor 50% gula.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548640" cy="548640"/>
          </a:xfrm>
          <a:prstGeom prst="roundRect">
            <a:avLst/>
          </a:prstGeom>
          <a:solidFill>
            <a:srgbClr val="6D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486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4C00"/>
                </a:solidFill>
                <a:latin typeface="Calibri"/>
              </a:defRPr>
            </a:pPr>
            <a:r>
              <a:t>Peluang Besar</a:t>
            </a:r>
          </a:p>
          <a:p>
            <a:pPr>
              <a:defRPr sz="1200">
                <a:solidFill>
                  <a:srgbClr val="212121"/>
                </a:solidFill>
                <a:latin typeface="Calibri"/>
              </a:defRPr>
            </a:pPr>
            <a:r>
              <a:t>Digitalisasi, modernisasi, co-gen, diversifikasi → potensi +20–30% EBITDA.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57575"/>
                </a:solidFill>
                <a:latin typeface="Calibri"/>
              </a:defRPr>
            </a:pPr>
            <a:r>
              <a:t>"100 ton tebu → 8–10 ton gula + 30 ton bagasse + 4–5 ton molasses = bisnis yang utuh"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  <a:p>
            <a:pPr algn="ctr">
              <a:defRPr sz="2000">
                <a:solidFill>
                  <a:srgbClr val="A5D6A7"/>
                </a:solidFill>
                <a:latin typeface="Calibri"/>
              </a:defRPr>
            </a:pPr>
            <a:r>
              <a:t>atas perhatian Bapak/Ibu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389120"/>
            <a:ext cx="3657600" cy="45720"/>
          </a:xfrm>
          <a:prstGeom prst="rect">
            <a:avLst/>
          </a:prstGeom>
          <a:solidFill>
            <a:srgbClr val="C68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68A02"/>
                </a:solidFill>
                <a:latin typeface="Calibri"/>
              </a:defRPr>
            </a:pPr>
            <a:r>
              <a:t>Sesi Tanya Jawab</a:t>
            </a:r>
          </a:p>
          <a:p>
            <a:pPr algn="ctr">
              <a:defRPr sz="1400">
                <a:solidFill>
                  <a:srgbClr val="C8E6C9"/>
                </a:solidFill>
                <a:latin typeface="Calibri"/>
              </a:defRPr>
            </a:pPr>
            <a:r>
              <a:t>Silakan ajukan pertanyaan atau berikan masukan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