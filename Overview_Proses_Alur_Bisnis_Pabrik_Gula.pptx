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2377440"/>
          </a:xfrm>
          <a:prstGeom prst="rect">
            <a:avLst/>
          </a:prstGeom>
          <a:solidFill>
            <a:srgbClr val="0D4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OVERVIEW PROSES ALUR BISNIS</a:t>
            </a:r>
          </a:p>
          <a:p>
            <a:pPr algn="ctr">
              <a:defRPr sz="4400" b="1">
                <a:solidFill>
                  <a:srgbClr val="C68A02"/>
                </a:solidFill>
                <a:latin typeface="Calibri"/>
              </a:defRPr>
            </a:pPr>
            <a:r>
              <a:t>PABRIK GULA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754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A5D6A7"/>
                </a:solidFill>
                <a:latin typeface="Calibri"/>
              </a:defRPr>
            </a:pPr>
            <a:r>
              <a:t>Dari Kebun Tebu hingga Distribusi Gula — Panduan Operasional untuk Pemula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9436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1C784"/>
                </a:solidFill>
                <a:latin typeface="Calibri"/>
              </a:defRPr>
            </a:pPr>
            <a:r>
              <a:t>Presentasi Kerja Praktik |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DAFTAR ISI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Agenda Presentasi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1. Pengantar Industri Gula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2. Alur Bisnis End-to-End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3. Penerimaan Bahan Baku &amp; Tebu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4. Persiapan Tebu &amp; Penggilingan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5. Pemurnian Nira (Clarification)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6. Penguapan (Evaporation)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7. Kristalisasi &amp; Vacuum Pan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8. Sentrifugasi &amp; Pemisahan Gula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9. Pengeringan, Pengemasan &amp; Penyimpanan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10. Utilitas &amp; Sistem Pendukung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11. Alur Bisnis &amp; Operasional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12. Tantangan Operasional Pabrik Gula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13. Rangkuman &amp; 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0" y="1188720"/>
            <a:ext cx="137160" cy="566928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PENGANTAR INDUSTRI GULA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Apa itu Pabrik Gula &amp; Perannya dalam Supply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▪ Pabrik gula = industri terintegrasi: dari kebun tebu → proses → distribusi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▪ Output utama: Gula Kristal Putih (SHS) dengan pol ≥99,3%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▪ 4 produk samping: molasses, bagasse, blotong, listrik (15–25% revenue)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▪ Produksi nasional: ~2,2 juta ton/tahun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▪ Konsumsi nasional: ~5–6 juta ton/tahun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▪ Impor: ~50% dari kebutuhan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▪ Pabrik aktif di Indonesia: ~60 unit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▪ Musim giling: April – November (6–7 bulan)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▪ Off-season: maintenance &amp; overhaul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0" y="1645920"/>
            <a:ext cx="3474720" cy="91440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Rendemen Target</a:t>
            </a:r>
            <a:br/>
            <a:r>
              <a:t>8–10%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2743200"/>
            <a:ext cx="3474720" cy="914400"/>
          </a:xfrm>
          <a:prstGeom prst="roundRect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Kapasitas Giling</a:t>
            </a:r>
            <a:br/>
            <a:r>
              <a:t>3.000–6.000 TCD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840480"/>
            <a:ext cx="3474720" cy="914400"/>
          </a:xfrm>
          <a:prstGeom prst="roundRect">
            <a:avLst/>
          </a:prstGeom>
          <a:solidFill>
            <a:srgbClr val="6D4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Lead Time</a:t>
            </a:r>
            <a:br/>
            <a:r>
              <a:t>24–48 jam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937760"/>
            <a:ext cx="3474720" cy="91440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Margin EBITDA</a:t>
            </a:r>
            <a:br/>
            <a:r>
              <a:t>15–25%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ALUR BISNIS END-TO-END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High-Level Process Flow — Dari Kebun hingga Konsumen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1920240" cy="10058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Penanaman</a:t>
            </a:r>
            <a:br/>
            <a:r>
              <a:t>Tebu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025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757575"/>
                </a:solidFill>
                <a:latin typeface="Calibri"/>
              </a:defRPr>
            </a:pPr>
            <a:r>
              <a:t>10-14 bln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23160" y="2011680"/>
            <a:ext cx="365760" cy="274320"/>
          </a:xfrm>
          <a:prstGeom prst="right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34640" y="1645920"/>
            <a:ext cx="1920240" cy="100584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Tebang &amp;</a:t>
            </a:r>
            <a:br/>
            <a:r>
              <a:t>Angkut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7025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757575"/>
                </a:solidFill>
                <a:latin typeface="Calibri"/>
              </a:defRPr>
            </a:pPr>
            <a:r>
              <a:t>&lt;24 jam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00600" y="2011680"/>
            <a:ext cx="365760" cy="274320"/>
          </a:xfrm>
          <a:prstGeom prst="right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0" y="1645920"/>
            <a:ext cx="1920240" cy="10058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Penerimaan</a:t>
            </a:r>
            <a:br/>
            <a:r>
              <a:t>&amp; Timbang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7025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757575"/>
                </a:solidFill>
                <a:latin typeface="Calibri"/>
              </a:defRPr>
            </a:pPr>
            <a:r>
              <a:t>Cek Pol/Brix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78040" y="2011680"/>
            <a:ext cx="365760" cy="274320"/>
          </a:xfrm>
          <a:prstGeom prst="right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89520" y="1645920"/>
            <a:ext cx="1920240" cy="100584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Penggilingan</a:t>
            </a:r>
            <a:br/>
            <a:r>
              <a:t>(Milling)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7025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757575"/>
                </a:solidFill>
                <a:latin typeface="Calibri"/>
              </a:defRPr>
            </a:pPr>
            <a:r>
              <a:t>Ekstraksi Nira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555480" y="2011680"/>
            <a:ext cx="365760" cy="274320"/>
          </a:xfrm>
          <a:prstGeom prst="right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66960" y="1645920"/>
            <a:ext cx="1920240" cy="10058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Pemurnian</a:t>
            </a:r>
            <a:br/>
            <a:r>
              <a:t>(Clarification)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27025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757575"/>
                </a:solidFill>
                <a:latin typeface="Calibri"/>
              </a:defRPr>
            </a:pPr>
            <a:r>
              <a:t>Hilangkan Impuritas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14800"/>
            <a:ext cx="1920240" cy="100584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Penguapan</a:t>
            </a:r>
            <a:br/>
            <a:r>
              <a:t>(Evaporation)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7144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757575"/>
                </a:solidFill>
                <a:latin typeface="Calibri"/>
              </a:defRPr>
            </a:pPr>
            <a:r>
              <a:t>Brix 12%→65%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423160" y="4480560"/>
            <a:ext cx="365760" cy="274320"/>
          </a:xfrm>
          <a:prstGeom prst="right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34640" y="4114800"/>
            <a:ext cx="1920240" cy="10058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Kristalisasi</a:t>
            </a:r>
            <a:br/>
            <a:r>
              <a:t>(Vacuum Pan)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17144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757575"/>
                </a:solidFill>
                <a:latin typeface="Calibri"/>
              </a:defRPr>
            </a:pPr>
            <a:r>
              <a:t>Bentuk Kristal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0600" y="4480560"/>
            <a:ext cx="365760" cy="274320"/>
          </a:xfrm>
          <a:prstGeom prst="right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12080" y="4114800"/>
            <a:ext cx="1920240" cy="100584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Sentrifugasi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517144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757575"/>
                </a:solidFill>
                <a:latin typeface="Calibri"/>
              </a:defRPr>
            </a:pPr>
            <a:r>
              <a:t>Pisah Kristal</a:t>
            </a:r>
            <a:br/>
            <a:r>
              <a:t>&amp; Molasses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78040" y="4480560"/>
            <a:ext cx="365760" cy="274320"/>
          </a:xfrm>
          <a:prstGeom prst="right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4114800"/>
            <a:ext cx="1920240" cy="10058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Pengeringan</a:t>
            </a:r>
            <a:br/>
            <a:r>
              <a:t>&amp; Packing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517144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757575"/>
                </a:solidFill>
                <a:latin typeface="Calibri"/>
              </a:defRPr>
            </a:pPr>
            <a:r>
              <a:t>Kadar Air &lt;0,5%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555480" y="4480560"/>
            <a:ext cx="365760" cy="274320"/>
          </a:xfrm>
          <a:prstGeom prst="right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66960" y="4114800"/>
            <a:ext cx="1920240" cy="100584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Distribusi</a:t>
            </a:r>
            <a:br/>
            <a:r>
              <a:t>&amp; Penjualan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517144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757575"/>
                </a:solidFill>
                <a:latin typeface="Calibri"/>
              </a:defRPr>
            </a:pPr>
            <a:r>
              <a:t>Gudang → Pasar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760720" y="3017520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5852160"/>
            <a:ext cx="10972800" cy="7315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C68A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>
              <a:defRPr sz="1200" b="1">
                <a:solidFill>
                  <a:srgbClr val="6D4C00"/>
                </a:solidFill>
                <a:latin typeface="Calibri"/>
              </a:defRPr>
            </a:pPr>
            <a:r>
              <a:t>💡 Key Takeaway: Total lead time tebu tebang → gula jadi = 24–48 jam. Setiap jam delay = pol turun 0,1%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PENERIMAAN BAHAN BAKU &amp; TEBU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Farmer Supply → Transportasi → Unloading → Cane Yard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Tebu ditanam 10–14 bulan sebelum dipanen (ratoon/plant cane)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Petani/supplier mengirim tebu via truk ke pabrik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Tebu harus digiling &lt;24 jam setelah tebang (cegah pol turun)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Proses Penerimaan: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1. Penimbangan truk (brutto &amp; tarra)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2. Sampling &amp; analisis (pol, brix, trash %)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3. Unloading dengan cane tipper / crane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4. Penyimpanan sementara di cane yard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Cane yard mengatur antrian FIFO (first-in first-out)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Target: antrian maksimal 12–24 jam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1645920"/>
            <a:ext cx="3200400" cy="6400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Petani / Kebun</a:t>
            </a:r>
          </a:p>
        </p:txBody>
      </p:sp>
      <p:sp>
        <p:nvSpPr>
          <p:cNvPr id="5" name="Down Arrow 4"/>
          <p:cNvSpPr/>
          <p:nvPr/>
        </p:nvSpPr>
        <p:spPr>
          <a:xfrm>
            <a:off x="9692640" y="230428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0" y="2606040"/>
            <a:ext cx="3200400" cy="64008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Transportasi Truk</a:t>
            </a:r>
          </a:p>
        </p:txBody>
      </p:sp>
      <p:sp>
        <p:nvSpPr>
          <p:cNvPr id="7" name="Down Arrow 6"/>
          <p:cNvSpPr/>
          <p:nvPr/>
        </p:nvSpPr>
        <p:spPr>
          <a:xfrm>
            <a:off x="9692640" y="326440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0" y="3566160"/>
            <a:ext cx="3200400" cy="6400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Timbangan &amp; QC</a:t>
            </a:r>
          </a:p>
        </p:txBody>
      </p:sp>
      <p:sp>
        <p:nvSpPr>
          <p:cNvPr id="9" name="Down Arrow 8"/>
          <p:cNvSpPr/>
          <p:nvPr/>
        </p:nvSpPr>
        <p:spPr>
          <a:xfrm>
            <a:off x="9692640" y="422452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0" y="4526280"/>
            <a:ext cx="3200400" cy="64008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Unloading (Tipper)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692640" y="518464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0" y="5486400"/>
            <a:ext cx="3200400" cy="6400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Cane Yard / Lori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852160"/>
            <a:ext cx="7315200" cy="7315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C68A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>
              <a:defRPr sz="1200" b="1">
                <a:solidFill>
                  <a:srgbClr val="6D4C00"/>
                </a:solidFill>
                <a:latin typeface="Calibri"/>
              </a:defRPr>
            </a:pPr>
            <a:r>
              <a:t>💡 Key Takeaway: Kualitas tebu saat diterima menentukan rendemen akhir pabrik.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PERSIAPAN TEBU &amp; PENGGILINGAN (MILLING)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Cane Carrier → Knives/Shredder → Milling Tandem → Nira Mentah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Cane Carrier: konveyor membawa tebu ke stasiun gilingan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Cane Knife (pisau tebu): memotong tebu jadi potongan kecil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Shredder/Unigrator: mencacah serat tebu agar sel terbuka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Milling Tandem (4–6 unit gilingan):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Setiap unit = 3 roll (top, feed, discharge)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Imbibisi air panas untuk maksimalkan ekstraksi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Hasil: Nira Mentah (mixed juice) + Ampas (bagasse)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Target Recovery Pol: 92–96%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Kapasitas: 3.000–6.000 TCD (Ton Cane per Day)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1645920"/>
            <a:ext cx="3200400" cy="64008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Cane Carrier</a:t>
            </a:r>
          </a:p>
        </p:txBody>
      </p:sp>
      <p:sp>
        <p:nvSpPr>
          <p:cNvPr id="5" name="Down Arrow 4"/>
          <p:cNvSpPr/>
          <p:nvPr/>
        </p:nvSpPr>
        <p:spPr>
          <a:xfrm>
            <a:off x="9692640" y="230428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0" y="2606040"/>
            <a:ext cx="3200400" cy="6400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Cane Knife</a:t>
            </a:r>
          </a:p>
        </p:txBody>
      </p:sp>
      <p:sp>
        <p:nvSpPr>
          <p:cNvPr id="7" name="Down Arrow 6"/>
          <p:cNvSpPr/>
          <p:nvPr/>
        </p:nvSpPr>
        <p:spPr>
          <a:xfrm>
            <a:off x="9692640" y="326440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0" y="3566160"/>
            <a:ext cx="3200400" cy="64008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Shredder</a:t>
            </a:r>
          </a:p>
        </p:txBody>
      </p:sp>
      <p:sp>
        <p:nvSpPr>
          <p:cNvPr id="9" name="Down Arrow 8"/>
          <p:cNvSpPr/>
          <p:nvPr/>
        </p:nvSpPr>
        <p:spPr>
          <a:xfrm>
            <a:off x="9692640" y="422452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0" y="4526280"/>
            <a:ext cx="3200400" cy="6400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Gilingan 1-2-3-4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692640" y="518464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0" y="5486400"/>
            <a:ext cx="3200400" cy="64008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Nira Mentah</a:t>
            </a:r>
            <a:br/>
            <a:r>
              <a:t>+ Bagasse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852160"/>
            <a:ext cx="7315200" cy="7315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C68A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>
              <a:defRPr sz="1200" b="1">
                <a:solidFill>
                  <a:srgbClr val="6D4C00"/>
                </a:solidFill>
                <a:latin typeface="Calibri"/>
              </a:defRPr>
            </a:pPr>
            <a:r>
              <a:t>💡 Key Takeaway: 100 ton tebu → ~30 ton bagasse (bahan bakar) + nira untuk diproses lebih lanjut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PEMURNIAN NIRA (CLARIFICATION)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Penghilangan Impuritas → Pemanasan → Nira Jernih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858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Nira mentah mengandung gula + kotoran (tanah, lilin, protein)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Tujuan: menghasilkan nira jernih (clear juice) untuk diuapkan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Proses Utama: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1. Pre-liming: penambahan susu kapur Ca(OH)₂ → pH ~7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2. Sulfitasi (opsional): SO₂ untuk pemucatan warna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3. Pemanasan (juice heater): 100–105°C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4. Flash tank: lepas udara terlarut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5. Clarifier (pengendapan): kotoran mengendap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6. Rotary Vacuum Filter: saring endapan → blotong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Output: Nira Jernih (clear juice) → ke evaporator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By-product: Blotong (filter cake) → pupuk organik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0" y="1645920"/>
            <a:ext cx="3017520" cy="6400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Nira Mentah</a:t>
            </a:r>
          </a:p>
        </p:txBody>
      </p:sp>
      <p:sp>
        <p:nvSpPr>
          <p:cNvPr id="5" name="Down Arrow 4"/>
          <p:cNvSpPr/>
          <p:nvPr/>
        </p:nvSpPr>
        <p:spPr>
          <a:xfrm>
            <a:off x="9784080" y="230428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0" y="2606040"/>
            <a:ext cx="3017520" cy="64008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Liming + Sulfitasi</a:t>
            </a:r>
          </a:p>
        </p:txBody>
      </p:sp>
      <p:sp>
        <p:nvSpPr>
          <p:cNvPr id="7" name="Down Arrow 6"/>
          <p:cNvSpPr/>
          <p:nvPr/>
        </p:nvSpPr>
        <p:spPr>
          <a:xfrm>
            <a:off x="9784080" y="326440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0" y="3566160"/>
            <a:ext cx="3017520" cy="6400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Juice Heater</a:t>
            </a:r>
            <a:br/>
            <a:r>
              <a:t>(100-105°C)</a:t>
            </a:r>
          </a:p>
        </p:txBody>
      </p:sp>
      <p:sp>
        <p:nvSpPr>
          <p:cNvPr id="9" name="Down Arrow 8"/>
          <p:cNvSpPr/>
          <p:nvPr/>
        </p:nvSpPr>
        <p:spPr>
          <a:xfrm>
            <a:off x="9784080" y="422452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80" y="4526280"/>
            <a:ext cx="3017520" cy="64008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Clarifier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784080" y="518464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80" y="5486400"/>
            <a:ext cx="3017520" cy="6400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Nira Jernih →</a:t>
            </a:r>
            <a:br/>
            <a:r>
              <a:t>Evaporator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943600"/>
            <a:ext cx="7315200" cy="7315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C68A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>
              <a:defRPr sz="1200" b="1">
                <a:solidFill>
                  <a:srgbClr val="6D4C00"/>
                </a:solidFill>
                <a:latin typeface="Calibri"/>
              </a:defRPr>
            </a:pPr>
            <a:r>
              <a:t>💡 Key Takeaway: Blotong bukan limbah — dijual sebagai pupuk organik (2–3% revenue tambahan)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PENGUAPAN (EVAPORATION)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Konsentrasi Nira — Multiple Effect Evaporator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858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Tujuan: menguapkan air dari nira jernih → nira kental (thick juice/syrup)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Brix naik dari ~12% → ~65% (konsentrasi gula meningkat)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Sistem: Multiple Effect Evaporator (MEE)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Biasanya 4–5 badan (effect/vessel)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Uap dari badan 1 digunakan memanaskan badan 2, dst.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Efisiensi energi: 1 kg uap bisa menguapkan 4–5 kg air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Prinsip kerja: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Tekanan menurun tiap badan (vakum progresif)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Titik didih turun → penguapan tetap terjadi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Badan terakhir beroperasi di bawah vakum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Output: Nira Kental (syrup) siap masuk vacuum pan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5486400"/>
            <a:ext cx="2011680" cy="82296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Effect 1</a:t>
            </a:r>
            <a:br/>
            <a:r>
              <a:t>(Tekanan</a:t>
            </a:r>
            <a:br/>
            <a:r>
              <a:t>Tinggi)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06040" y="5760720"/>
            <a:ext cx="365760" cy="274320"/>
          </a:xfrm>
          <a:prstGeom prst="right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80" y="5486400"/>
            <a:ext cx="2011680" cy="82296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Effect 2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983480" y="5760720"/>
            <a:ext cx="365760" cy="274320"/>
          </a:xfrm>
          <a:prstGeom prst="right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03520" y="5486400"/>
            <a:ext cx="2011680" cy="82296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Effect 3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360920" y="5760720"/>
            <a:ext cx="365760" cy="274320"/>
          </a:xfrm>
          <a:prstGeom prst="right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0" y="5486400"/>
            <a:ext cx="2011680" cy="82296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Effect 4</a:t>
            </a:r>
            <a:br/>
            <a:r>
              <a:t>(Vakum)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738360" y="5760720"/>
            <a:ext cx="365760" cy="274320"/>
          </a:xfrm>
          <a:prstGeom prst="right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0" y="5486400"/>
            <a:ext cx="2011680" cy="822960"/>
          </a:xfrm>
          <a:prstGeom prst="roundRect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Nira</a:t>
            </a:r>
            <a:br/>
            <a:r>
              <a:t>Kental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KRISTALISASI &amp; VACUUM PAN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Pembentukan Kristal Gula — Massecuite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858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Tujuan: membentuk kristal gula dari nira kental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Dilakukan dalam Vacuum Pan (bejana vakum)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Proses: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1. Nira kental dimasukkan ke vacuum pan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2. Pemanasan vakum → penguapan air lanjut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3. Penambahan bibit kristal (seed/fondan)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4. Kristal tumbuh perlahan dalam larutan induk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5. Hasil: Massecuite (campuran kristal + mother liquor)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Sistem Masakan (bertingkat):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Masakan A: kristal terbesar, kualitas terbaik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Masakan B: kristal sedang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Masakan C/D: kristal kecil (diputar ulang)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Massecuite A → sentrifugasi → Gula SHS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0" y="1828800"/>
            <a:ext cx="3017520" cy="73152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Nira Kental</a:t>
            </a:r>
            <a:br/>
            <a:r>
              <a:t>(Syrup)</a:t>
            </a:r>
          </a:p>
        </p:txBody>
      </p:sp>
      <p:sp>
        <p:nvSpPr>
          <p:cNvPr id="5" name="Down Arrow 4"/>
          <p:cNvSpPr/>
          <p:nvPr/>
        </p:nvSpPr>
        <p:spPr>
          <a:xfrm>
            <a:off x="9784080" y="257860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0" y="2926080"/>
            <a:ext cx="3017520" cy="7315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Vacuum Pan</a:t>
            </a:r>
            <a:br/>
            <a:r>
              <a:t>(Masakan A/B/C)</a:t>
            </a:r>
          </a:p>
        </p:txBody>
      </p:sp>
      <p:sp>
        <p:nvSpPr>
          <p:cNvPr id="7" name="Down Arrow 6"/>
          <p:cNvSpPr/>
          <p:nvPr/>
        </p:nvSpPr>
        <p:spPr>
          <a:xfrm>
            <a:off x="9784080" y="367588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0" y="4023360"/>
            <a:ext cx="3017520" cy="73152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Massecuite</a:t>
            </a:r>
          </a:p>
        </p:txBody>
      </p:sp>
      <p:sp>
        <p:nvSpPr>
          <p:cNvPr id="9" name="Down Arrow 8"/>
          <p:cNvSpPr/>
          <p:nvPr/>
        </p:nvSpPr>
        <p:spPr>
          <a:xfrm>
            <a:off x="9784080" y="477316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80" y="5120640"/>
            <a:ext cx="3017520" cy="7315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→ Sentrifugasi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943600"/>
            <a:ext cx="7315200" cy="7315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C68A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>
              <a:defRPr sz="1200" b="1">
                <a:solidFill>
                  <a:srgbClr val="6D4C00"/>
                </a:solidFill>
                <a:latin typeface="Calibri"/>
              </a:defRPr>
            </a:pPr>
            <a:r>
              <a:t>💡 Key Takeaway: Kristalisasi bertingkat memaksimalkan recovery — gula yang tidak terkristal diproses ulang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SENTRIFUGASI &amp; PEMISAHAN GULA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Memisahkan Kristal Gula dari Molasses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858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Tujuan: memisahkan kristal gula murni dari larutan induk (molasses)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Alat: Centrifugal / Putaran (basket type, batch/continuous)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Proses: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1. Massecuite dimasukkan ke basket centrifugal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2. Putaran tinggi (1.000–1.500 rpm)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3. Gaya sentrifugal mendorong molasses keluar melalui saringan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4. Kristal gula tertahan di dalam basket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5. Pencucian (steam/water wash) untuk poles kristal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Hasil: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Kristal gula basah → ke pengering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Molasses A → masakan B (recycle)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Final Molasses (tetes akhir) → dijual (pakan, etanol)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100 ton tebu → ~4–5 ton molasses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0" y="1828800"/>
            <a:ext cx="3017520" cy="7315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Massecuite</a:t>
            </a:r>
          </a:p>
        </p:txBody>
      </p:sp>
      <p:sp>
        <p:nvSpPr>
          <p:cNvPr id="5" name="Down Arrow 4"/>
          <p:cNvSpPr/>
          <p:nvPr/>
        </p:nvSpPr>
        <p:spPr>
          <a:xfrm>
            <a:off x="9784080" y="257860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0" y="2926080"/>
            <a:ext cx="3017520" cy="73152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Centrifugal</a:t>
            </a:r>
            <a:br/>
            <a:r>
              <a:t>(1000-1500 rpm)</a:t>
            </a:r>
          </a:p>
        </p:txBody>
      </p:sp>
      <p:sp>
        <p:nvSpPr>
          <p:cNvPr id="7" name="Down Arrow 6"/>
          <p:cNvSpPr/>
          <p:nvPr/>
        </p:nvSpPr>
        <p:spPr>
          <a:xfrm>
            <a:off x="9784080" y="367588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0" y="4023360"/>
            <a:ext cx="3017520" cy="73152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Kristal Gula</a:t>
            </a:r>
            <a:br/>
            <a:r>
              <a:t>(basah)</a:t>
            </a:r>
          </a:p>
        </p:txBody>
      </p:sp>
      <p:sp>
        <p:nvSpPr>
          <p:cNvPr id="9" name="Down Arrow 8"/>
          <p:cNvSpPr/>
          <p:nvPr/>
        </p:nvSpPr>
        <p:spPr>
          <a:xfrm>
            <a:off x="9784080" y="477316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80" y="5120640"/>
            <a:ext cx="3017520" cy="731520"/>
          </a:xfrm>
          <a:prstGeom prst="roundRect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Molasses</a:t>
            </a:r>
            <a:br/>
            <a:r>
              <a:t>(tetes)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PENGERINGAN, PENGEMASAN &amp; PENYIMPANAN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Finishing Process — Sugar Drying, Packing, Warehouse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Pengeringan (Sugar Dryer):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Kristal gula basah dilewatkan rotary dryer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Udara panas mengurangi kadar air hingga &lt;0,5%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Dilanjutkan cooler → suhu turun ke ambient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Grading &amp; Screening: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Ayakan memisahkan ukuran kristal (halus/kasar)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Gula off-spec dilebur ulang (re-melt)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Pengemasan: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Standar: karung 50 kg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Automatic weighing &amp; sewing machine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Labeling: batch, tanggal produksi, pol, ICUMSA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Gudang Penyimpanan: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Suhu &amp; kelembaban terkontrol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FIFO system, pallet stacking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Siap distribusi ke pasar/industri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0" y="1645920"/>
            <a:ext cx="3017520" cy="64008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Kristal Basah</a:t>
            </a:r>
          </a:p>
        </p:txBody>
      </p:sp>
      <p:sp>
        <p:nvSpPr>
          <p:cNvPr id="5" name="Down Arrow 4"/>
          <p:cNvSpPr/>
          <p:nvPr/>
        </p:nvSpPr>
        <p:spPr>
          <a:xfrm>
            <a:off x="9784080" y="230428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0" y="2606040"/>
            <a:ext cx="3017520" cy="64008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Rotary Dryer</a:t>
            </a:r>
            <a:br/>
            <a:r>
              <a:t>&amp; Cooler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9784080" y="326440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0" y="3566160"/>
            <a:ext cx="3017520" cy="64008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Grading</a:t>
            </a:r>
            <a:br/>
            <a:r>
              <a:t>(Screening)</a:t>
            </a:r>
          </a:p>
        </p:txBody>
      </p:sp>
      <p:sp>
        <p:nvSpPr>
          <p:cNvPr id="9" name="Down Arrow 8"/>
          <p:cNvSpPr/>
          <p:nvPr/>
        </p:nvSpPr>
        <p:spPr>
          <a:xfrm>
            <a:off x="9784080" y="422452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80" y="4526280"/>
            <a:ext cx="3017520" cy="64008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Pengemasan</a:t>
            </a:r>
            <a:br/>
            <a:r>
              <a:t>(50 kg)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784080" y="518464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80" y="5486400"/>
            <a:ext cx="3017520" cy="64008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Gudang</a:t>
            </a:r>
            <a:br/>
            <a:r>
              <a:t>(Distribusi)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UTILITAS &amp; SISTEM PENDUKUNG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Steam, Boiler, Turbine, Bagasse &amp; Energy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Pabrik gula hampir self-sufficient untuk energi!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Siklus Energi (Cogeneration):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1. Bagasse (ampas tebu) → dibakar di Boiler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2. Boiler → menghasilkan uap bertekanan tinggi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3. Uap → menggerakkan Turbin → listrik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4. Exhaust steam → proses (evaporator, vacuum pan, heater)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Data Kunci: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100 ton tebu → ~30 ton bagasse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Bagasse = 100% bahan bakar boiler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Surplus listrik → dijual ke PLN (3–5% revenue)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Utilitas Lainnya: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Water treatment plant (air proses &amp; imbibisi)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Workshop &amp; bengkel (maintenance)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Laboratorium QC (analisis pol, brix, ICUMSA)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0" y="1645920"/>
            <a:ext cx="3017520" cy="64008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Bagasse</a:t>
            </a:r>
            <a:br/>
            <a:r>
              <a:t>(Ampas Tebu)</a:t>
            </a:r>
          </a:p>
        </p:txBody>
      </p:sp>
      <p:sp>
        <p:nvSpPr>
          <p:cNvPr id="5" name="Down Arrow 4"/>
          <p:cNvSpPr/>
          <p:nvPr/>
        </p:nvSpPr>
        <p:spPr>
          <a:xfrm>
            <a:off x="9784080" y="230428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0" y="2606040"/>
            <a:ext cx="3017520" cy="640080"/>
          </a:xfrm>
          <a:prstGeom prst="roundRect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Boiler</a:t>
            </a:r>
            <a:br/>
            <a:r>
              <a:t>(Pembakaran)</a:t>
            </a:r>
          </a:p>
        </p:txBody>
      </p:sp>
      <p:sp>
        <p:nvSpPr>
          <p:cNvPr id="7" name="Down Arrow 6"/>
          <p:cNvSpPr/>
          <p:nvPr/>
        </p:nvSpPr>
        <p:spPr>
          <a:xfrm>
            <a:off x="9784080" y="326440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0" y="3566160"/>
            <a:ext cx="3017520" cy="64008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Uap Tekanan</a:t>
            </a:r>
            <a:br/>
            <a:r>
              <a:t>Tinggi</a:t>
            </a:r>
          </a:p>
        </p:txBody>
      </p:sp>
      <p:sp>
        <p:nvSpPr>
          <p:cNvPr id="9" name="Down Arrow 8"/>
          <p:cNvSpPr/>
          <p:nvPr/>
        </p:nvSpPr>
        <p:spPr>
          <a:xfrm>
            <a:off x="9784080" y="422452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80" y="4526280"/>
            <a:ext cx="3017520" cy="640080"/>
          </a:xfrm>
          <a:prstGeom prst="roundRect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Turbin</a:t>
            </a:r>
            <a:br/>
            <a:r>
              <a:t>(Listrik)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784080" y="5184648"/>
            <a:ext cx="274320" cy="320040"/>
          </a:xfrm>
          <a:prstGeom prst="downArrow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80" y="5486400"/>
            <a:ext cx="3017520" cy="64008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Exhaust Steam</a:t>
            </a:r>
            <a:br/>
            <a:r>
              <a:t>→ Proses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35040"/>
            <a:ext cx="7315200" cy="7315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C68A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>
              <a:defRPr sz="1200" b="1">
                <a:solidFill>
                  <a:srgbClr val="6D4C00"/>
                </a:solidFill>
                <a:latin typeface="Calibri"/>
              </a:defRPr>
            </a:pPr>
            <a:r>
              <a:t>💡 Key Takeaway: Pabrik gula = pembangkit listrik sendiri. Bagasse menggantikan bahan bakar fosil.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ALUR BISNIS &amp; OPERASIONAL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Koordinasi, Logistik, Penjadwalan &amp; Quality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6 Divisi Operasional: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Tanaman | Pabrikasi | Instalasi | Keuangan | SDM | Pemasaran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Koordinasi Operasional: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Operasi 24/7 saat musim giling (shift 3×8 jam)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Meeting harian: target giling vs aktual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Komunikasi real-time antar stasiun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Logistik &amp; Distribusi: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Inbound: penjadwalan angkutan tebu dari kebun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Outbound: pengiriman gula ke distributor/industri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FIFO untuk inventori gudang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Quality Control: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Lab menganalisis di setiap stasiun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Parameter: pol, brix, ICUMSA, kadar air, warna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   – Target losses keseluruhan: &lt;2,5%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2011680"/>
            <a:ext cx="3474720" cy="109728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HARIAN</a:t>
            </a:r>
            <a:br/>
            <a:r>
              <a:t>Kapasitas giling, rendemen,</a:t>
            </a:r>
            <a:br/>
            <a:r>
              <a:t>antrian tebu, breakdown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3474720"/>
            <a:ext cx="3474720" cy="10972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MINGGUAN</a:t>
            </a:r>
            <a:br/>
            <a:r>
              <a:t>Target vs actual, K3,</a:t>
            </a:r>
            <a:br/>
            <a:r>
              <a:t>analisis losses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4937760"/>
            <a:ext cx="3474720" cy="1097280"/>
          </a:xfrm>
          <a:prstGeom prst="roundRect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BULANAN</a:t>
            </a:r>
            <a:br/>
            <a:r>
              <a:t>Cash flow, EBITDA,</a:t>
            </a:r>
            <a:br/>
            <a:r>
              <a:t>efisiensi energi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6035040"/>
            <a:ext cx="7315200" cy="7315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C68A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>
              <a:defRPr sz="1200" b="1">
                <a:solidFill>
                  <a:srgbClr val="6D4C00"/>
                </a:solidFill>
                <a:latin typeface="Calibri"/>
              </a:defRPr>
            </a:pPr>
            <a:r>
              <a:t>💡 Key Takeaway: Manajemen memonitor 3 layer: harian (operasional), mingguan (kualitas), bulanan (finansial)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TANTANGAN OPERASIONAL PABRIK GULA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Hambatan Industri &amp; Bottleneck Produksi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⚠️ BOTTLENECK OPERASIONAL: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Kualitas tebu rendah (pol &lt;8%)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Breakdown mesin gilingan/boiler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Antrian tebu terlalu lama (pol turun)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Cuaca (hujan ganggu tebang/angkut)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SDM operator terbatas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Kapasitas terbatas vs pasokan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Mitigasi: preventive maintenance,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QC ketat di emplasement, training SDM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⚠️ TANTANGAN INDUSTRI: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Produktivitas rendah (RI 6-8% vs Thailand 10-12%)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Impor tinggi (~50% kebutuhan nasional)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Teknologi tua (mesin &gt;30 tahun)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Margin tipis (HPP tinggi vs harga regulasi)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Perubahan iklim (kemarau/banjir)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▪ Regenerasi petani tebu menurun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Akar masalah: PRODUKTIVITAS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  <a:latin typeface="Calibri"/>
              </a:defRPr>
            </a:pPr>
            <a:r>
              <a:t>→ itulah sebab impor tetap tinggi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669280"/>
            <a:ext cx="2743200" cy="100584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Digitalisasi</a:t>
            </a:r>
            <a:br/>
            <a:r>
              <a:t>(IoT/SCADA/AI)</a:t>
            </a:r>
            <a:br/>
            <a:r>
              <a:t>+10-15% efisiensi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5669280"/>
            <a:ext cx="2743200" cy="100584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Modernisasi</a:t>
            </a:r>
            <a:br/>
            <a:r>
              <a:t>Mesin</a:t>
            </a:r>
            <a:br/>
            <a:r>
              <a:t>+1-2% rendemen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5669280"/>
            <a:ext cx="2743200" cy="100584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Co-generation</a:t>
            </a:r>
            <a:br/>
            <a:r>
              <a:t>Listrik</a:t>
            </a:r>
            <a:br/>
            <a:r>
              <a:t>+5-10% revenue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5669280"/>
            <a:ext cx="2743200" cy="100584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Diversifikasi</a:t>
            </a:r>
            <a:br/>
            <a:r>
              <a:t>(Bioetanol, Refined)</a:t>
            </a:r>
            <a:br/>
            <a:r>
              <a:t>+15-25% revenue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PT SINERGI GULA NUSANTARA (SGN)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SugarCo — Holding Pabrik Gula BUMN Indonesia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▪ Didirikan: 17 Agustus 2021 di bawah PTPN III (Holding)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▪ Nama resmi: PT Sinergi Gula Nusantara (SGN)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▪ Bagian dari 88 Program Kementerian BUMN 2020-2023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▪ Misi: Pencapaian Swasembada Gula Nasional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▪ Skala Operasi: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   – 43 Pabrik Gula tersebar di Jawa &amp; luar Jawa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   – Areal HGU/TS: ~56.000 hektar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   – Berasal dari 7 anak perusahaan PTPN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▪ Tantangan yang Dihadapi SGN: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   – Aspek operasi belum terstandarisasi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   – Skala &amp; utilisasi pabrik bervariasi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   – Ketergantungan supply tebu petani rakyat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▪ Inisiatif Strategis: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   – Kolaborasi bioetanol dengan Pertamina NRE (2024)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   – Kerjasama UGM untuk optimasi lahan KHDTK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   – Digitalisasi via SIMPG, HCIS, ERMS, e-Contract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1645920"/>
            <a:ext cx="3474720" cy="100584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JAWA TIMUR</a:t>
            </a:r>
            <a:br/>
            <a:r>
              <a:t>PG terbanyak: Ngadirejo,</a:t>
            </a:r>
            <a:br/>
            <a:r>
              <a:t>Djatiroto, Semboro, dll.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2880360"/>
            <a:ext cx="3474720" cy="10058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JAWA TENGAH</a:t>
            </a:r>
            <a:br/>
            <a:r>
              <a:t>PG Comal, Sragi,</a:t>
            </a:r>
            <a:br/>
            <a:r>
              <a:t>Tasikmadu, dll.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4114800"/>
            <a:ext cx="3474720" cy="100584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JAWA BARAT</a:t>
            </a:r>
            <a:br/>
            <a:r>
              <a:t>PG Subang, Rajawali,</a:t>
            </a:r>
            <a:br/>
            <a:r>
              <a:t>Jatitujuh, dll.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5349240"/>
            <a:ext cx="3474720" cy="1005840"/>
          </a:xfrm>
          <a:prstGeom prst="roundRect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LAMPUNG &amp;</a:t>
            </a:r>
            <a:br/>
            <a:r>
              <a:t>LUAR JAWA</a:t>
            </a:r>
            <a:br/>
            <a:r>
              <a:t>PG Bunga Mayang,</a:t>
            </a:r>
            <a:br/>
            <a:r>
              <a:t>NTT (bioetanol)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943600"/>
            <a:ext cx="2743200" cy="77724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43</a:t>
            </a:r>
            <a:br/>
            <a:r>
              <a:t>Pabrik Gula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5943600"/>
            <a:ext cx="2743200" cy="7772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56.000 ha</a:t>
            </a:r>
            <a:br/>
            <a:r>
              <a:t>Areal Tebu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943600"/>
            <a:ext cx="2743200" cy="77724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7 PTPN</a:t>
            </a:r>
            <a:br/>
            <a:r>
              <a:t>Subsidiari Asal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5943600"/>
            <a:ext cx="2743200" cy="777240"/>
          </a:xfrm>
          <a:prstGeom prst="roundRect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Target:</a:t>
            </a:r>
            <a:br/>
            <a:r>
              <a:t>Swasembada</a:t>
            </a:r>
            <a:br/>
            <a:r>
              <a:t>Gula 2025-2026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RANGKUMAN &amp; KEY TAKEAWAYS</a:t>
            </a:r>
          </a:p>
          <a:p>
            <a:pPr>
              <a:defRPr sz="1400">
                <a:solidFill>
                  <a:srgbClr val="C8E6C9"/>
                </a:solidFill>
                <a:latin typeface="Calibri"/>
              </a:defRPr>
            </a:pPr>
            <a:r>
              <a:t>6 Poin Penting yang Harus Diingat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02920" cy="50292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3716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5E20"/>
                </a:solidFill>
                <a:latin typeface="Calibri"/>
              </a:defRPr>
            </a:pPr>
            <a:r>
              <a:t>Bisnis Terintegrasi</a:t>
            </a:r>
          </a:p>
          <a:p>
            <a:pPr>
              <a:defRPr sz="1100">
                <a:solidFill>
                  <a:srgbClr val="212121"/>
                </a:solidFill>
                <a:latin typeface="Calibri"/>
              </a:defRPr>
            </a:pPr>
            <a:r>
              <a:t>Pabrik gula = hulu (kebun) + proses (pabrik) + hilir (distribusi). Satu rantai nilai yang saling tergantung.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402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E7D32"/>
                </a:solidFill>
                <a:latin typeface="Calibri"/>
              </a:defRPr>
            </a:pPr>
            <a:r>
              <a:t>Multi-Revenue Stream</a:t>
            </a:r>
          </a:p>
          <a:p>
            <a:pPr>
              <a:defRPr sz="1100">
                <a:solidFill>
                  <a:srgbClr val="212121"/>
                </a:solidFill>
                <a:latin typeface="Calibri"/>
              </a:defRPr>
            </a:pPr>
            <a:r>
              <a:t>Bukan hanya gula — molasses, bagasse, blotong, dan listrik menyumbang 15-25% revenue tambahan.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108960"/>
            <a:ext cx="502920" cy="50292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1089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CB342"/>
                </a:solidFill>
                <a:latin typeface="Calibri"/>
              </a:defRPr>
            </a:pPr>
            <a:r>
              <a:t>KPI Raja = Rendemen</a:t>
            </a:r>
          </a:p>
          <a:p>
            <a:pPr>
              <a:defRPr sz="1100">
                <a:solidFill>
                  <a:srgbClr val="212121"/>
                </a:solidFill>
                <a:latin typeface="Calibri"/>
              </a:defRPr>
            </a:pPr>
            <a:r>
              <a:t>Target 8-10%. Kenaikan 1% rendemen = peningkatan profit signifikan.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7640"/>
            <a:ext cx="502920" cy="502920"/>
          </a:xfrm>
          <a:prstGeom prst="round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97764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CAF50"/>
                </a:solidFill>
                <a:latin typeface="Calibri"/>
              </a:defRPr>
            </a:pPr>
            <a:r>
              <a:t>SGN: 43 Pabrik Gula</a:t>
            </a:r>
          </a:p>
          <a:p>
            <a:pPr>
              <a:defRPr sz="1100">
                <a:solidFill>
                  <a:srgbClr val="212121"/>
                </a:solidFill>
                <a:latin typeface="Calibri"/>
              </a:defRPr>
            </a:pPr>
            <a:r>
              <a:t>PT Sinergi Gula Nusantara mengelola 43 PG dari 7 PTPN, areal 56 ribu ha, menuju swasembada gula.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46320"/>
            <a:ext cx="502920" cy="502920"/>
          </a:xfrm>
          <a:prstGeom prst="roundRect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8463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68A02"/>
                </a:solidFill>
                <a:latin typeface="Calibri"/>
              </a:defRPr>
            </a:pPr>
            <a:r>
              <a:t>Tantangan Nyata</a:t>
            </a:r>
          </a:p>
          <a:p>
            <a:pPr>
              <a:defRPr sz="1100">
                <a:solidFill>
                  <a:srgbClr val="212121"/>
                </a:solidFill>
                <a:latin typeface="Calibri"/>
              </a:defRPr>
            </a:pPr>
            <a:r>
              <a:t>Produktivitas rendah, teknologi tua, margin tipis. Indonesia masih impor 50% gula.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502920" cy="502920"/>
          </a:xfrm>
          <a:prstGeom prst="roundRect">
            <a:avLst/>
          </a:prstGeom>
          <a:solidFill>
            <a:srgbClr val="6D4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101600" rIns="1016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7150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D4C00"/>
                </a:solidFill>
                <a:latin typeface="Calibri"/>
              </a:defRPr>
            </a:pPr>
            <a:r>
              <a:t>Peluang Besar</a:t>
            </a:r>
          </a:p>
          <a:p>
            <a:pPr>
              <a:defRPr sz="1100">
                <a:solidFill>
                  <a:srgbClr val="212121"/>
                </a:solidFill>
                <a:latin typeface="Calibri"/>
              </a:defRPr>
            </a:pPr>
            <a:r>
              <a:t>Digitalisasi, modernisasi, co-gen, diversifikasi, bioetanol -&gt; potensi +20-30% EBITDA.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  <a:p>
            <a:pPr algn="ctr">
              <a:defRPr sz="2000">
                <a:solidFill>
                  <a:srgbClr val="A5D6A7"/>
                </a:solidFill>
                <a:latin typeface="Calibri"/>
              </a:defRPr>
            </a:pPr>
            <a:r>
              <a:t>atas perhatian Bapak/Ibu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4389120"/>
            <a:ext cx="3657600" cy="45720"/>
          </a:xfrm>
          <a:prstGeom prst="rect">
            <a:avLst/>
          </a:prstGeom>
          <a:solidFill>
            <a:srgbClr val="C68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4572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68A02"/>
                </a:solidFill>
                <a:latin typeface="Calibri"/>
              </a:defRPr>
            </a:pPr>
            <a:r>
              <a:t>Sesi Tanya Jawab</a:t>
            </a:r>
          </a:p>
          <a:p>
            <a:pPr algn="ctr">
              <a:defRPr sz="1400">
                <a:solidFill>
                  <a:srgbClr val="C8E6C9"/>
                </a:solidFill>
                <a:latin typeface="Calibri"/>
              </a:defRPr>
            </a:pPr>
            <a:r>
              <a:t>Silakan ajukan pertanyaan atau berikan masukan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1C784"/>
                </a:solidFill>
                <a:latin typeface="Calibri"/>
              </a:defRPr>
            </a:pPr>
            <a:r>
              <a:t>Sumber data SGN: sinergigula.com | The Jakarta Post | UGM.ac.id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