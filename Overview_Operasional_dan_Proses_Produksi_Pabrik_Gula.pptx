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00" y="720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9A825"/>
                </a:solidFill>
                <a:latin typeface="Calibri"/>
              </a:defRPr>
            </a:pPr>
            <a:r>
              <a:rPr/>
              <a:t>PRESENTASI INTERNAL  •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0000" y="144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/>
              <a:t>Overview Operasional &amp;</a:t>
            </a:r>
            <a:br/>
            <a:r>
              <a:rPr/>
              <a:t>Proses Produksi Pabrik Gula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060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5D6A7"/>
                </a:solidFill>
                <a:latin typeface="Calibri"/>
              </a:defRPr>
            </a:pPr>
            <a:r>
              <a:rPr/>
              <a:t>Dari Penerimaan Tebu hingga Produk Akhir — Alur, GMP, QC &amp; Sustainability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0000" y="3960000"/>
            <a:ext cx="2880000" cy="54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80000" y="432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E6C9"/>
                </a:solidFill>
                <a:latin typeface="Calibri"/>
              </a:defRPr>
            </a:pPr>
            <a:r>
              <a:rPr/>
              <a:t>Disusun untuk pemahaman operasional pabrik gula</a:t>
            </a:r>
            <a:br/>
            <a:r>
              <a:rPr/>
              <a:t>Berbasis referensi: Hugot (1960), GMP Manual, Laporan KP &amp; Jurnal Industri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Daftar 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Struktur Presentasi — 21 Bagian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2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180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0000" y="1800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Pendahuluan Industri Gula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226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0000" y="2268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Overview Alur Produksi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736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000" y="2736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Penerimaan &amp; Penanganan Tebu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320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0000" y="320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Cane Preparation &amp; Milling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672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0000" y="367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Pemrosesan Nira (Clarification)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14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0000" y="4140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Evaporation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" y="460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0000" y="4608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Crystallization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5076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0000" y="5076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Centrifugation &amp; Sugar Drying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0" y="554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0000" y="554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Packaging &amp;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0000" y="180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0000" y="1800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Utility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226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0000" y="2268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Pemanfaatan Produk Samping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0000" y="2736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2736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Good Manufacturing 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0000" y="320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80000" y="320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Quality 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0000" y="3672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0000" y="367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Pengelolaan Limbah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0000" y="414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0000" y="4140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Sustainability &amp; Efisiensi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0000" y="460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80000" y="4608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Keselamatan Kerja (K3)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80000" y="5076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80000" y="5076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Tantangan Operasional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80000" y="554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rPr/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80000" y="5544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Calibri"/>
              </a:defRPr>
            </a:pPr>
            <a:r>
              <a:rPr/>
              <a:t>Kesimpulan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Pendahuluan: Industri Gula Indonesia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Posisi strategis &amp; konteks operasional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3 / 21  •  Overview Operasional &amp; Proses Produksi Pabrik Gula  |  Internal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0000" y="1800000"/>
            <a:ext cx="2520000" cy="10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52400"/>
          <a:lstStyle/>
          <a:p>
            <a:pPr algn="ctr">
              <a:defRPr sz="2400" b="1">
                <a:solidFill>
                  <a:srgbClr val="1B5E20"/>
                </a:solidFill>
                <a:latin typeface="Calibri"/>
              </a:defRPr>
            </a:pPr>
            <a:r>
              <a:rPr/>
              <a:t>~2,2 jt ton</a:t>
            </a:r>
          </a:p>
          <a:p>
            <a:pPr algn="ctr">
              <a:defRPr sz="1300">
                <a:solidFill>
                  <a:srgbClr val="424242"/>
                </a:solidFill>
              </a:defRPr>
            </a:pPr>
            <a:r>
              <a:rPr/>
              <a:t>Produksi nasional/tahun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8000" y="1800000"/>
            <a:ext cx="2520000" cy="10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52400"/>
          <a:lstStyle/>
          <a:p>
            <a:pPr algn="ctr">
              <a:defRPr sz="2400" b="1">
                <a:solidFill>
                  <a:srgbClr val="1B5E20"/>
                </a:solidFill>
                <a:latin typeface="Calibri"/>
              </a:defRPr>
            </a:pPr>
            <a:r>
              <a:rPr/>
              <a:t>~5-6 jt ton</a:t>
            </a:r>
          </a:p>
          <a:p>
            <a:pPr algn="ctr">
              <a:defRPr sz="1300">
                <a:solidFill>
                  <a:srgbClr val="424242"/>
                </a:solidFill>
              </a:defRPr>
            </a:pPr>
            <a:r>
              <a:rPr/>
              <a:t>Konsumsi nasional/tahun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16000" y="1800000"/>
            <a:ext cx="2520000" cy="10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52400"/>
          <a:lstStyle/>
          <a:p>
            <a:pPr algn="ctr">
              <a:defRPr sz="2400" b="1">
                <a:solidFill>
                  <a:srgbClr val="1B5E20"/>
                </a:solidFill>
                <a:latin typeface="Calibri"/>
              </a:defRPr>
            </a:pPr>
            <a:r>
              <a:rPr/>
              <a:t>~50%</a:t>
            </a:r>
          </a:p>
          <a:p>
            <a:pPr algn="ctr">
              <a:defRPr sz="1300">
                <a:solidFill>
                  <a:srgbClr val="424242"/>
                </a:solidFill>
              </a:defRPr>
            </a:pPr>
            <a:r>
              <a:rPr/>
              <a:t>Ketergantungan impor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4000" y="1800000"/>
            <a:ext cx="2520000" cy="10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52400"/>
          <a:lstStyle/>
          <a:p>
            <a:pPr algn="ctr">
              <a:defRPr sz="2400" b="1">
                <a:solidFill>
                  <a:srgbClr val="1B5E20"/>
                </a:solidFill>
                <a:latin typeface="Calibri"/>
              </a:defRPr>
            </a:pPr>
            <a:r>
              <a:rPr/>
              <a:t>~60 PG</a:t>
            </a:r>
          </a:p>
          <a:p>
            <a:pPr algn="ctr">
              <a:defRPr sz="1300">
                <a:solidFill>
                  <a:srgbClr val="424242"/>
                </a:solidFill>
              </a:defRPr>
            </a:pPr>
            <a:r>
              <a:rPr/>
              <a:t>Pabrik gula aktif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3240000"/>
            <a:ext cx="1044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rPr/>
              <a:t>• Musim giling: April – November (6–7 bulan operasi)</a:t>
            </a:r>
          </a:p>
          <a:p>
            <a:pPr algn="l">
              <a:spcAft>
                <a:spcPts val="4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rPr/>
              <a:t>• Pemain utama: PTPN (BUMN), swasta nasional, pabrik gula rakyat</a:t>
            </a:r>
          </a:p>
          <a:p>
            <a:pPr algn="l">
              <a:spcAft>
                <a:spcPts val="4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rPr/>
              <a:t>• Komoditas strategis: pangan, devisa negara, lapangan kerja</a:t>
            </a:r>
          </a:p>
          <a:p>
            <a:pPr algn="l">
              <a:spcAft>
                <a:spcPts val="4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rPr/>
              <a:t>• Lead time tebu → gula: 24–48 jam (proses kontinu non-stop)</a:t>
            </a:r>
          </a:p>
          <a:p>
            <a:pPr algn="l">
              <a:spcAft>
                <a:spcPts val="400"/>
              </a:spcAft>
              <a:defRPr sz="1400">
                <a:solidFill>
                  <a:srgbClr val="424242"/>
                </a:solidFill>
                <a:latin typeface="Calibri"/>
              </a:defRPr>
            </a:pPr>
            <a:r>
              <a:rPr/>
              <a:t>• Kapasitas pabrik: 3.000 – 6.000 TCD (Ton Cane per Day)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Pabrik gula adalah industri terintegrasi hulu-hilir dengan gap besar antara produksi dan konsumsi nasional.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Overview Alur Produksi Pabrik Gula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9 Tahapan Utama — Dari Tebu Masuk hingga Gula Terkemas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4 / 21  •  Overview Operasional &amp; Proses Produksi Pabrik Gula  |  Internal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980000"/>
            <a:ext cx="1152000" cy="108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1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Penerimaan</a:t>
            </a:r>
            <a:br/>
            <a:r>
              <a:rPr/>
              <a:t>Tebu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69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1800000" y="1980000"/>
            <a:ext cx="1152000" cy="108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2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Cane</a:t>
            </a:r>
            <a:br/>
            <a:r>
              <a:rPr/>
              <a:t>Handling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5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3060000" y="1980000"/>
            <a:ext cx="1152000" cy="10800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3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Milling</a:t>
            </a:r>
            <a:br/>
            <a:r>
              <a:rPr/>
              <a:t>(Gilingan)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1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4320000" y="1980000"/>
            <a:ext cx="1152000" cy="10800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4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Pemurnian</a:t>
            </a:r>
            <a:br/>
            <a:r>
              <a:rPr/>
              <a:t>Nira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7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5580000" y="1980000"/>
            <a:ext cx="1152000" cy="10800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5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Evaporasi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73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6840000" y="1980000"/>
            <a:ext cx="1152000" cy="1080000"/>
          </a:xfrm>
          <a:prstGeom prst="roundRect">
            <a:avLst/>
          </a:prstGeom>
          <a:solidFill>
            <a:srgbClr val="6D4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6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Kristalisasi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100000" y="1980000"/>
            <a:ext cx="1152000" cy="1080000"/>
          </a:xfrm>
          <a:prstGeom prst="roundRect">
            <a:avLst/>
          </a:prstGeom>
          <a:solidFill>
            <a:srgbClr val="6D4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7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Centrifugasi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5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9360000" y="1980000"/>
            <a:ext cx="1152000" cy="1080000"/>
          </a:xfrm>
          <a:prstGeom prst="roundRect">
            <a:avLst/>
          </a:prstGeom>
          <a:solidFill>
            <a:srgbClr val="6D4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8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Pengeringan</a:t>
            </a:r>
            <a:br/>
            <a:r>
              <a:rPr/>
              <a:t>&amp; Pendinginan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512000" y="2340000"/>
            <a:ext cx="144000" cy="18000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Rounded Rectangle 20"/>
          <p:cNvSpPr/>
          <p:nvPr/>
        </p:nvSpPr>
        <p:spPr>
          <a:xfrm>
            <a:off x="10620000" y="1980000"/>
            <a:ext cx="1152000" cy="10800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/>
              <a:t>9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rPr/>
              <a:t>Pengemasan</a:t>
            </a:r>
            <a:br/>
            <a:r>
              <a:rPr/>
              <a:t>&amp; Gudang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000" y="3240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7D32"/>
                </a:solidFill>
                <a:latin typeface="Calibri"/>
              </a:defRPr>
            </a:pPr>
            <a:r>
              <a:rPr/>
              <a:t>PERSIAPAN BAHAN BAKU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0000" y="3240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5E20"/>
                </a:solidFill>
                <a:latin typeface="Calibri"/>
              </a:defRPr>
            </a:pPr>
            <a:r>
              <a:rPr/>
              <a:t>PENGOLAHAN INTI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0000" y="3240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4C41"/>
                </a:solidFill>
                <a:latin typeface="Calibri"/>
              </a:defRPr>
            </a:pPr>
            <a:r>
              <a:rPr/>
              <a:t>FINISHING &amp;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00" y="3780000"/>
            <a:ext cx="1044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Apa yang terjadi di proses ini?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Tebu segar ditimbang → dicacah → digiling untuk diambil niranya → nira dimurnikan →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air diuapkan → gula dikristalkan → dipisahkan → dikeringkan → dikemas siap jual.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Analogi sederhana: 100 ton tebu masuk → keluar 8–10 ton gula + 30 ton ampas (bagasse) + 4–5 ton tetes (molasses)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Total proses berjalan kontinu 24/7 selama musim giling. Setiap jam keterlambatan = kehilangan 0,1% pol.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Penerimaan &amp; Penanganan Tebu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Stasiun Pertama — Gerbang kualitas bahan baku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5 / 21  •  Overview Operasional &amp; Proses Produksi Pabrik Gula  |  Internal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1800000"/>
            <a:ext cx="2088000" cy="90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⟶ Truk Masuk</a:t>
            </a:r>
          </a:p>
          <a:p>
            <a:pPr algn="ctr">
              <a:defRPr sz="1200">
                <a:solidFill>
                  <a:srgbClr val="424242"/>
                </a:solidFill>
              </a:defRPr>
            </a:pPr>
            <a:r>
              <a:rPr/>
              <a:t>Tebu dari kebun tiba di pabrik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52000" y="1800000"/>
            <a:ext cx="2088000" cy="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⟶ Timbangan</a:t>
            </a:r>
          </a:p>
          <a:p>
            <a:pPr algn="ctr">
              <a:defRPr sz="1200">
                <a:solidFill>
                  <a:srgbClr val="424242"/>
                </a:solidFill>
              </a:defRPr>
            </a:pPr>
            <a:r>
              <a:rPr/>
              <a:t>Ditimbang bruto &amp; tarra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4000" y="1800000"/>
            <a:ext cx="2088000" cy="90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⟶ Sampling</a:t>
            </a:r>
          </a:p>
          <a:p>
            <a:pPr algn="ctr">
              <a:defRPr sz="1200">
                <a:solidFill>
                  <a:srgbClr val="424242"/>
                </a:solidFill>
              </a:defRPr>
            </a:pPr>
            <a:r>
              <a:rPr/>
              <a:t>Cek pol, brix, kadar trash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16000" y="1800000"/>
            <a:ext cx="2088000" cy="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⟶ Cane Yard</a:t>
            </a:r>
          </a:p>
          <a:p>
            <a:pPr algn="ctr">
              <a:defRPr sz="1200">
                <a:solidFill>
                  <a:srgbClr val="424242"/>
                </a:solidFill>
              </a:defRPr>
            </a:pPr>
            <a:r>
              <a:rPr/>
              <a:t>Antri di emplasement (maks 24 jam)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8000" y="1800000"/>
            <a:ext cx="2088000" cy="90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⟶ Feeding Table</a:t>
            </a:r>
          </a:p>
          <a:p>
            <a:pPr algn="ctr">
              <a:defRPr sz="1200">
                <a:solidFill>
                  <a:srgbClr val="424242"/>
                </a:solidFill>
              </a:defRPr>
            </a:pPr>
            <a:r>
              <a:rPr/>
              <a:t>Dipindah ke meja tebu menuju gilingan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060000"/>
            <a:ext cx="1044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Apa yang terjadi di proses ini?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Tebu dari kebun diangkut truk, ditimbang untuk mengetahui berat bersih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Dilakukan sampling: diukur kadar gula (pol), padatan terlarut (brix), dan kadar kotoran (trash)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Hasil sampling menentukan kualitas tebu &amp; pembayaran ke petani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Tebu menunggu di cane yard (emplasement) — TIDAK BOLEH &gt;24 jam karena pol turun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Sistem FIFO (First In First Out) untuk menjaga kesegaran tebu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Parameter kritis: Pol tebu ≥8%, Trash &lt;5%, Waktu tunggu &lt;24 jam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Kualitas tebu di titik ini menentukan rendemen akhir. Tebu terlambat = gula hilang.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Cane Preparation &amp; Milling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Stasiun Gilingan — Jantung ekstraksi gula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6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CANE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232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1. Cane Leveller — meratakan tebu di conveyor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2. Cane Cutter (I &amp; II) — memotong tebu jadi potongan pendek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3. Unigrator / Shredder — mencacah tebu jadi serat halus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Tujuan: membuka sel-sel tebu agar nira mudah diekstraksi.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Preparation Index (PI) target: &gt;85%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(PI = seberapa banyak sel tebu yang terbuka)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MILLING (GILINGAN)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0" y="2232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Terdiri dari 4–6 unit gilingan (tandem mill)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Setiap unit: 3 roll (top, feed, discharge)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Tebu dicacah diperas bertahap dari gilingan I → terakhir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Ditambahkan air imbibisi di gilingan akhir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(untuk melarutkan sisa gula dalam ampas)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OUTPUT: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→ Nira mentah (mixed juice): brix ~12–15%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→ Ampas/Bagasse: kadar air ~50%, jadi bahan bakar boiler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Target: Pol extraction &gt;95%, Moisture bagasse &lt;50%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Milling adalah jantung pabrik — ekstraksi optimal di sini menentukan recovery pol keseluruhan (target &gt;95%).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Pemrosesan Nira (Clarification)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Stasiun Pemurnian — Membersihkan nira dari pengotor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7 / 21  •  Overview Operasional &amp; Proses Produksi Pabrik Gula  |  Internal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1800000"/>
            <a:ext cx="2592000" cy="162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1. Timbangan Nira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Nira mentah ditimbang untuk kontrol massa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8000" y="1800000"/>
            <a:ext cx="2592000" cy="162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2. Pemanasan I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Dipanaskan 70–75°C (juice heater)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6000" y="1800000"/>
            <a:ext cx="2592000" cy="162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3. Defekasi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Ditambah susu kapur Ca(OH)₂ → pH naik ~7–8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800000"/>
            <a:ext cx="2592000" cy="162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4. Sulfitasi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Ditambah gas SO₂ → pH turun ~6,8–7,2</a:t>
            </a:r>
            <a:br/>
            <a:r>
              <a:rPr/>
              <a:t>(membantu pemucatan warna)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3780000"/>
            <a:ext cx="2592000" cy="162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5. Pemanasan II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Dipanaskan 100–105°C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8000" y="3780000"/>
            <a:ext cx="2592000" cy="162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6. Flash Tank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Menghilangkan gas terlarut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3780000"/>
            <a:ext cx="2592000" cy="162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7. Clarifier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Pengendapan kotoran (2–3 jam)</a:t>
            </a:r>
            <a:br/>
            <a:r>
              <a:rPr/>
              <a:t>Hasil: nira jernih + endapan (mud)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780000"/>
            <a:ext cx="2592000" cy="162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1016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8. Rotary Vacuum Filter</a:t>
            </a:r>
          </a:p>
          <a:p>
            <a:pPr>
              <a:spcBef>
                <a:spcPts val="400"/>
              </a:spcBef>
              <a:defRPr sz="1200">
                <a:solidFill>
                  <a:srgbClr val="424242"/>
                </a:solidFill>
              </a:defRPr>
            </a:pPr>
            <a:r>
              <a:rPr/>
              <a:t>Mud disaring → blotong (filter cake)</a:t>
            </a:r>
            <a:br/>
            <a:r>
              <a:rPr/>
              <a:t>Nira saring kembali ke proses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594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Pemurnian menghasilkan nira jernih (clear juice) + blotong sebagai by-product pupuk organik.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Evaporation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Stasiun Penguapan — Menaikkan konsentrasi nira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8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648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Apa yang terjadi di proses ini?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Nira jernih (brix ~12–15%) diuapkan airnya secara bertahap hingga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menjadi nira kental / thick juice (brix ~60–65%).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Sistem: Multiple Effect Evaporator (biasanya 4–5 badan/effect)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Cara kerja: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Effect 1: dipanaskan uap bekas turbin (exhaust steam)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Effect 2–5: uap dari effect sebelumnya dipakai memanaskan effect berikutnya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Tekanan &amp; suhu makin rendah di setiap effect (vacuum)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Keuntungan sistem multi-effect: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→ Hemat energi: 1 kg uap bisa menguapkan 4–5 kg air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→ Suhu rendah di effect akhir: mencegah kerusakan gula (karamelisasi)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40000" y="1800000"/>
            <a:ext cx="3780000" cy="28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52400" lIns="1270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Parameter Kunci</a:t>
            </a:r>
          </a:p>
          <a:p>
            <a:br/>
            <a:pPr>
              <a:defRPr sz="1200">
                <a:solidFill>
                  <a:srgbClr val="424242"/>
                </a:solidFill>
              </a:defRPr>
            </a:pPr>
            <a:r>
              <a:rPr/>
              <a:t>Input: Brix 12–15%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Output: Brix 60–65%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Jumlah effect: 4–5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Tekanan: vacuum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Suhu effect akhir: ~55°C</a:t>
            </a:r>
          </a:p>
          <a:p>
            <a:br/>
            <a:pPr>
              <a:defRPr sz="1200">
                <a:solidFill>
                  <a:srgbClr val="424242"/>
                </a:solidFill>
              </a:defRPr>
            </a:pPr>
            <a:r>
              <a:rPr/>
              <a:t>Kontrol: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• Brix nira kental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• Suhu tiap effect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• Vacuum pressure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• Scaling (kerak)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Evaporasi menghilangkan ~80% air dari nira. Efisiensi energi di sini sangat krusial untuk biaya produksi.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Crystallization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Stasiun Masakan — Pembentukan kristal gula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9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72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Apa yang terjadi di proses ini?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Nira kental (thick juice) dimasak dalam vacuum pan pada suhu rendah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dan tekanan vakum hingga terbentuk kristal gula (massecuite).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Tahapan Masakan (3-Boiling System):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Masakan A (1st boiling):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- Nira kental + bibit kristal → kristal besar (gula produk SHS)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- Hasil: Massecuite A → centrifuge → Gula A + Molasses A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Masakan B (2nd boiling):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- Molasses A dimasak ulang → kristal sedang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- Hasil: Gula B (dilebur, kembali ke masakan A)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Masakan C/D (3rd boiling):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- Molasses B dimasak → kristal kecil (bibit/seed)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- Hasil: Gula C/D (bibit) + Final Molasses (tetes akhir)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Parameter kritis: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Suhu masakan: 65–75°C (di bawah vakum)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Supersaturasi: dijaga ~1,1–1,2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Ukuran kristal: 0,8–1,1 mm untuk gula SHS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80000" y="1800000"/>
            <a:ext cx="3240000" cy="21600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300" b="1">
                <a:solidFill>
                  <a:srgbClr val="6D4C41"/>
                </a:solidFill>
              </a:defRPr>
            </a:pPr>
            <a:r>
              <a:rPr/>
              <a:t>Istilah Penting</a:t>
            </a:r>
          </a:p>
          <a:p>
            <a:br/>
            <a:pPr>
              <a:defRPr sz="1200">
                <a:solidFill>
                  <a:srgbClr val="424242"/>
                </a:solidFill>
              </a:defRPr>
            </a:pPr>
            <a:r>
              <a:rPr/>
              <a:t>Massecuite = campuran kristal + larutan induk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Vacuum Pan = bejana masak bertekanan vakum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Seed/Bibit = kristal kecil pemicu pertumbuhan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Molasses = tetes, sisa cair setelah kristalisasi</a:t>
            </a:r>
          </a:p>
          <a:p>
            <a:pPr>
              <a:defRPr sz="1200">
                <a:solidFill>
                  <a:srgbClr val="424242"/>
                </a:solidFill>
              </a:defRPr>
            </a:pPr>
            <a:r>
              <a:rPr/>
              <a:t>SHS = Superior High Sugar (pol ≥99,3%)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Kristalisasi menentukan ukuran &amp; kemurnian gula akhir. Kontrol supersaturasi sangat krusial.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Centrifugation &amp; Sugar Drying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Stasiun Putar &amp; Pengeringan — Pemisahan dan finishing kristal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10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CENTRIFUGATION (PEMUTARAN)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232000"/>
            <a:ext cx="504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Massecuite dari vacuum pan dimasukkan ke centrifuge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Mesin berputar 1000–1500 rpm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Kristal gula tertahan di saringan (screen)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Molasses (tetes) terlempar keluar melalui lubang screen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Dicuci dengan air/steam untuk membersihkan kristal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Output: Kristal gula basah + molasses terpisah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Tipe: Batch centrifuge (gula A) &amp; Continuous (gula B/C)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SUGAR DRYING &amp; COOLING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0" y="2232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Gula basah (moisture ~1%) masuk rotary dryer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Dikeringkan dengan udara panas (suhu ~80°C)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Target kadar air akhir: &lt; 0,05% (gula SHS)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Setelah kering → masuk sugar cooler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Didinginkan ke suhu kamar (~30–35°C)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Tujuan: mencegah caking (penggumpalan) saat penyimpanan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Quality check setelah drying: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Kadar air (moisture) &lt; 0,05%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Warna (ICUMSA): 150–300 untuk GKP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Ukuran kristal: 0,8–1,1 mm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Pol ≥ 99,3%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Centrifuge memisahkan kristal dari molasses. Pengeringan memastikan gula tidak menggumpal saat disimpan.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Packaging &amp;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Stasiun Pengemasan — Dari bulk ke produk siap distribusi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11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1044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Apa yang terjadi di proses ini?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Alur Pengemasan: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1. Gula kering dari cooler → vibrating screen (ayakan) → pisahkan ukuran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2. Gula sesuai spesifikasi → hopper penampung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3. Penimbangan otomatis (50 kg/karung atau sesuai order)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4. Pengemasan dalam karung (PP woven bag + inner PE liner)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5. Dijahit/sealed → conveyor → gudang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Penyimpanan (Gudang Gula):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Gudang harus kering, ventilasi baik, suhu &lt;30°C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Kelembaban relatif (RH) &lt; 65% — mencegah caking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Sistem FIFO (First In First Out)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Pallet kayu/plastik — tidak langsung kontak lantai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Penumpukan maksimum: 30–40 karung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GMP di area packaging: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Area bersih, bebas hama, tertutup dari cuaca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Operator menggunakan APD (masker, sarung tangan, hairnet)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Label lengkap: tanggal produksi, batch, expired date, berat bersih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Pengemasan &amp; penyimpanan yang baik menjaga kualitas gula sampai ke tangan konsumen.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Utility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Sistem Pendukung — Energi, air, dan infrastruktur operasional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12 / 21  •  Overview Operasional &amp; Proses Produksi Pabrik Gula  |  Internal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1800000"/>
            <a:ext cx="5400000" cy="1872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Boiler / Ketel Uap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Bahan bakar: bagasse (ampas tebu)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Menghasilkan uap bertekanan tinggi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Kapasitas: 20–60 ton uap/jam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Tipe: water tube boiler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Pabrik gula hampir self-sufficient energi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8000" y="1800000"/>
            <a:ext cx="5400000" cy="18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Turbin &amp; Power House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Uap boiler → turbin → listrik + exhaust steam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Listrik: 3–8 MW (kebutuhan pabrik)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Exhaust steam: dipakai proses (evaporator, pan)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Co-generation: surplus dijual ke PLN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Back Pressure Turbine Generator (BPTG)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3888000"/>
            <a:ext cx="5400000" cy="1872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Water Treatment Plant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Sumber: sungai / sumur dalam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Treatment: koagulasi, filtrasi, softening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Kebutuhan: 500–1500 m³/hari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Untuk: boiler feed water, proses, sanitasi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Kualitas: hardness &lt;5 ppm untuk boiler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8000" y="3888000"/>
            <a:ext cx="5400000" cy="18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Instrument &amp; Workshop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Workshop mekanik &amp; listrik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Spare parts management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Preventive maintenance scheduling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Laboratorium instrumen &amp; kalibrasi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Off-season: overhaul seluruh mesin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Pabrik gula bisa mandiri energi dengan membakar bagasse di boiler — konsep self-sufficient &amp; circular economy.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Pemanfaatan Produk Samping (By-Products)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Circular Economy — Tidak ada yang terbuang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13 / 21  •  Overview Operasional &amp; Proses Produksi Pabrik Gula  |  Internal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1800000"/>
            <a:ext cx="2592000" cy="54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/>
              <a:t>Bagasse (Ampas Tebu)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412000"/>
            <a:ext cx="25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7D32"/>
                </a:solidFill>
                <a:latin typeface="Calibri"/>
              </a:defRPr>
            </a:pPr>
            <a:r>
              <a:rPr/>
              <a:t>~30 ton / 100 ton tebu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000" y="2700000"/>
            <a:ext cx="25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  <a:latin typeface="Calibri"/>
              </a:defRPr>
            </a:pPr>
            <a:r>
              <a:rPr/>
              <a:t>• Bahan bakar utama boiler</a:t>
            </a:r>
            <a:br/>
            <a:r>
              <a:rPr/>
              <a:t>• Co-generation listrik</a:t>
            </a:r>
            <a:br/>
            <a:r>
              <a:rPr/>
              <a:t>• Potensi: pulp &amp; kertas, pellet biofuel</a:t>
            </a:r>
            <a:br/>
            <a:r>
              <a:rPr/>
              <a:t>• Revenue: 5–10%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8000" y="1800000"/>
            <a:ext cx="2592000" cy="540000"/>
          </a:xfrm>
          <a:prstGeom prst="roundRect">
            <a:avLst/>
          </a:prstGeom>
          <a:solidFill>
            <a:srgbClr val="6D4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/>
              <a:t>Molasses (Tetes)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000" y="2412000"/>
            <a:ext cx="25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4C41"/>
                </a:solidFill>
                <a:latin typeface="Calibri"/>
              </a:defRPr>
            </a:pPr>
            <a:r>
              <a:rPr/>
              <a:t>~4–5 ton / 100 ton tebu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6000" y="2700000"/>
            <a:ext cx="25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  <a:latin typeface="Calibri"/>
              </a:defRPr>
            </a:pPr>
            <a:r>
              <a:rPr/>
              <a:t>• Bahan baku alkohol/etanol</a:t>
            </a:r>
            <a:br/>
            <a:r>
              <a:rPr/>
              <a:t>• Pakan ternak</a:t>
            </a:r>
            <a:br/>
            <a:r>
              <a:rPr/>
              <a:t>• MSG, ragi, asam sitrat</a:t>
            </a:r>
            <a:br/>
            <a:r>
              <a:rPr/>
              <a:t>• Revenue: 10–15%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800000"/>
            <a:ext cx="2592000" cy="54000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/>
              <a:t>Blotong (Filter Cake)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000" y="2412000"/>
            <a:ext cx="25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5E20"/>
                </a:solidFill>
                <a:latin typeface="Calibri"/>
              </a:defRPr>
            </a:pPr>
            <a:r>
              <a:rPr/>
              <a:t>~3–4 ton / 100 ton tebu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4000" y="2700000"/>
            <a:ext cx="25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  <a:latin typeface="Calibri"/>
              </a:defRPr>
            </a:pPr>
            <a:r>
              <a:rPr/>
              <a:t>• Pupuk organik (N, P, K tinggi)</a:t>
            </a:r>
            <a:br/>
            <a:r>
              <a:rPr/>
              <a:t>• Soil conditioner kebun tebu</a:t>
            </a:r>
            <a:br/>
            <a:r>
              <a:rPr/>
              <a:t>• Kompos</a:t>
            </a:r>
            <a:br/>
            <a:r>
              <a:rPr/>
              <a:t>• Revenue: 2–3%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800000"/>
            <a:ext cx="2592000" cy="5400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/>
              <a:t>Listrik Surplus (Co-gen)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412000"/>
            <a:ext cx="25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9A825"/>
                </a:solidFill>
                <a:latin typeface="Calibri"/>
              </a:defRPr>
            </a:pPr>
            <a:r>
              <a:rPr/>
              <a:t>Kapasitas 3–8 MW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2000" y="2700000"/>
            <a:ext cx="25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  <a:latin typeface="Calibri"/>
              </a:defRPr>
            </a:pPr>
            <a:r>
              <a:rPr/>
              <a:t>• Dijual ke PLN (excess power)</a:t>
            </a:r>
            <a:br/>
            <a:r>
              <a:rPr/>
              <a:t>• Bisa mengurangi biaya energi</a:t>
            </a:r>
            <a:br/>
            <a:r>
              <a:rPr/>
              <a:t>• Green energy certificate</a:t>
            </a:r>
            <a:br/>
            <a:r>
              <a:rPr/>
              <a:t>• Revenue: 3–5%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60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5E20"/>
                </a:solidFill>
                <a:latin typeface="Calibri"/>
              </a:defRPr>
            </a:pPr>
            <a:r>
              <a:rPr/>
              <a:t>Total kontribusi by-product: 15–25% dari revenue pabrik gula. Ini menjadikan pabrik gula sebagai industri circular economy — hampir tidak ada waste.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000" y="558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By-product bukan limbah, tapi sumber pendapatan tambahan yang signifikan (15–25% revenue).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Good Manufacturing Practice (GMP)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Standar Produksi — Menjamin mutu dan keamanan pangan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14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104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Apa itu GMP?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Pedoman cara produksi yang baik untuk memastikan produk aman,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bermutu, dan konsisten — wajib untuk industri pangan (termasuk gula).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5 Pilar GMP di Pabrik Gula: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3240000"/>
            <a:ext cx="2088000" cy="234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1. Bangunan &amp; Fasilitas</a:t>
            </a:r>
          </a:p>
          <a:p>
            <a:pPr>
              <a:spcBef>
                <a:spcPts val="400"/>
              </a:spcBef>
              <a:defRPr sz="1100">
                <a:solidFill>
                  <a:srgbClr val="424242"/>
                </a:solidFill>
              </a:defRPr>
            </a:pPr>
            <a:r>
              <a:rPr/>
              <a:t>• Desain higienis, mudah dibersihkan</a:t>
            </a:r>
            <a:br/>
            <a:r>
              <a:rPr/>
              <a:t>• Alur proses searah (no cross-contamination)</a:t>
            </a:r>
            <a:br/>
            <a:r>
              <a:rPr/>
              <a:t>• Ventilasi &amp; penerangan memadai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000" y="3240000"/>
            <a:ext cx="2088000" cy="234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2. Peralatan &amp; Mesin</a:t>
            </a:r>
          </a:p>
          <a:p>
            <a:pPr>
              <a:spcBef>
                <a:spcPts val="400"/>
              </a:spcBef>
              <a:defRPr sz="1100">
                <a:solidFill>
                  <a:srgbClr val="424242"/>
                </a:solidFill>
              </a:defRPr>
            </a:pPr>
            <a:r>
              <a:rPr/>
              <a:t>• Food-grade material (stainless steel)</a:t>
            </a:r>
            <a:br/>
            <a:r>
              <a:rPr/>
              <a:t>• Mudah dibersihkan &amp; dirawat</a:t>
            </a:r>
            <a:br/>
            <a:r>
              <a:rPr/>
              <a:t>• Kalibrasi rutin alat ukur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4000" y="3240000"/>
            <a:ext cx="2088000" cy="234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3. Personel / SDM</a:t>
            </a:r>
          </a:p>
          <a:p>
            <a:pPr>
              <a:spcBef>
                <a:spcPts val="400"/>
              </a:spcBef>
              <a:defRPr sz="1100">
                <a:solidFill>
                  <a:srgbClr val="424242"/>
                </a:solidFill>
              </a:defRPr>
            </a:pPr>
            <a:r>
              <a:rPr/>
              <a:t>• Pelatihan hygiene &amp; GMP rutin</a:t>
            </a:r>
            <a:br/>
            <a:r>
              <a:rPr/>
              <a:t>• APD lengkap di area produksi</a:t>
            </a:r>
            <a:br/>
            <a:r>
              <a:rPr/>
              <a:t>• Pemeriksaan kesehatan berkala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16000" y="3240000"/>
            <a:ext cx="2088000" cy="234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4. Proses Produksi</a:t>
            </a:r>
          </a:p>
          <a:p>
            <a:pPr>
              <a:spcBef>
                <a:spcPts val="400"/>
              </a:spcBef>
              <a:defRPr sz="1100">
                <a:solidFill>
                  <a:srgbClr val="424242"/>
                </a:solidFill>
              </a:defRPr>
            </a:pPr>
            <a:r>
              <a:rPr/>
              <a:t>• SOP tertulis &amp; terdokumentasi</a:t>
            </a:r>
            <a:br/>
            <a:r>
              <a:rPr/>
              <a:t>• Kontrol titik kritis (CCP)</a:t>
            </a:r>
            <a:br/>
            <a:r>
              <a:rPr/>
              <a:t>• Traceability batch produksi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8000" y="3240000"/>
            <a:ext cx="2088000" cy="234000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5. Sanitasi &amp; Pengendalian Hama</a:t>
            </a:r>
          </a:p>
          <a:p>
            <a:pPr>
              <a:spcBef>
                <a:spcPts val="400"/>
              </a:spcBef>
              <a:defRPr sz="1100">
                <a:solidFill>
                  <a:srgbClr val="424242"/>
                </a:solidFill>
              </a:defRPr>
            </a:pPr>
            <a:r>
              <a:rPr/>
              <a:t>• Jadwal pembersihan teratur</a:t>
            </a:r>
            <a:br/>
            <a:r>
              <a:rPr/>
              <a:t>• Pest control terintegrasi</a:t>
            </a:r>
            <a:br/>
            <a:r>
              <a:rPr/>
              <a:t>• Pengelolaan limbah cair &amp; padat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576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GMP memastikan setiap tahap produksi menghasilkan gula yang aman &amp; konsisten — dari bahan baku hingga produk akhir.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Quality Control (Pengendalian Mutu)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Laboratorium &amp; Monitoring — Menjaga standar di setiap stasiun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15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104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Apa yang terjadi di proses ini?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Tim QC / laboratorium pabrik memantau kualitas di SETIAP stasiun proses,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dari tebu masuk hingga gula siap kirim.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Parameter yang Diuji di Setiap Titik: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342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Bahan Baku (Tebu)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Pol, Brix, Trash %, Fiber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8000" y="342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Nira Mentah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Brix, Pol, pH, Purity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000" y="342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Nira Jernih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Turbidity, Color, 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342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Nira Kental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Brix (60-65%), Purity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50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Massecuite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Brix, Crystal size, Purity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8000" y="450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Gula Produk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Pol ≥99,3%, ICUMSA, Moisture &lt;0,05%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000" y="450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Molasses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Brix, Pol, Target Purity &lt;35%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500000"/>
            <a:ext cx="2592000" cy="90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76200"/>
          <a:lstStyle/>
          <a:p>
            <a:pPr algn="ctr">
              <a:defRPr sz="1200" b="1">
                <a:solidFill>
                  <a:srgbClr val="1B5E20"/>
                </a:solidFill>
              </a:defRPr>
            </a:pPr>
            <a:r>
              <a:rPr/>
              <a:t>Air Boiler</a:t>
            </a:r>
          </a:p>
          <a:p>
            <a:pPr>
              <a:spcBef>
                <a:spcPts val="300"/>
              </a:spcBef>
              <a:defRPr sz="1100">
                <a:solidFill>
                  <a:srgbClr val="424242"/>
                </a:solidFill>
              </a:defRPr>
            </a:pPr>
            <a:r>
              <a:rPr/>
              <a:t>Hardness, pH, TDS, Silica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576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QC berjalan 24 jam — setiap 2 jam sampling dilakukan. Data lab = dasar keputusan operasional.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Pengelolaan Limbah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Waste Management — Mengelola dampak lingkungan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16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Jenis Limbah Pabrik Gula &amp; Pengelolaannya: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2340000"/>
            <a:ext cx="3600000" cy="342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01600"/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rPr/>
              <a:t>Limbah Cair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Sumber: air pencucian, kondensor, boiler blowdown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Penanganan: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IPAL (Instalasi Pengolahan Air Limbah)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Sistem: screening → equalisasi → aerasi → clarifier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BOD/COD diturunkan sebelum dibuang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Target: sesuai baku mutu Permen LH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Bisa digunakan ulang untuk irigasi kebun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00000" y="2340000"/>
            <a:ext cx="3600000" cy="342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D4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01600"/>
          <a:lstStyle/>
          <a:p>
            <a:pPr algn="ctr">
              <a:defRPr sz="1400" b="1">
                <a:solidFill>
                  <a:srgbClr val="6D4C41"/>
                </a:solidFill>
              </a:defRPr>
            </a:pPr>
            <a:r>
              <a:rPr/>
              <a:t>Limbah Padat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Sumber: blotong, abu boiler, trash tebu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Penanganan: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Blotong → pupuk organik / kompos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Abu boiler (fly ash) → campuran pupuk / landfill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Trash → dikembalikan ke lahan sebagai mulsa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Zero waste to landfill (target modern)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Bagasse habis dipakai sebagai bahan bakar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80000" y="2340000"/>
            <a:ext cx="3600000" cy="342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01600"/>
          <a:lstStyle/>
          <a:p>
            <a:pPr algn="ctr">
              <a:defRPr sz="1400" b="1">
                <a:solidFill>
                  <a:srgbClr val="424242"/>
                </a:solidFill>
              </a:defRPr>
            </a:pPr>
            <a:r>
              <a:rPr/>
              <a:t>Emisi Gas (Udara)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Sumber: cerobong boiler, debu pengering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Penanganan: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Wet scrubber / cyclone pada cerobong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Electrostatic precipitator (ESP)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Monitoring emisi berkala (PM, SO₂, NOx)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Target: di bawah baku mutu emisi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Bag filter pada area drying &amp; packaging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594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Pabrik gula modern menerapkan prinsip zero waste — semua limbah diolah menjadi produk bernilai atau dibuang sesuai standar.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Sustainability &amp; Efisiensi Energi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Keberlanjutan — Menyeimbangkan produksi dan lingkungan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17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104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Mengapa Sustainability Penting di Pabrik Gula?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Pabrik gula memiliki potensi besar untuk menjadi industri berkelanjutan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karena sifat alamiahnya yang circular (produk samping = bahan baku kembali).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Aspek Sustainability di Pabrik Gula: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3420000"/>
            <a:ext cx="2592000" cy="19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Energi Terbarukan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Bagasse sebagai biomass fuel (carbon neutral)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Co-generation: listrik dari uap boiler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Potensi solar panel di lahan idle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Target: energy self-sufficient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8000" y="3420000"/>
            <a:ext cx="2592000" cy="19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Efisiensi Air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Recycle condensate untuk boiler feed water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Reuse air proses untuk irigasi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Minimasi konsumsi air bersih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Water footprint tracking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000" y="3420000"/>
            <a:ext cx="2592000" cy="19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Circular Economy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Blotong → pupuk → kembali ke kebun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Molasses → industri turunan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Abu → soil amendment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Hampir zero waste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3420000"/>
            <a:ext cx="2592000" cy="1980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 lIns="76200"/>
          <a:lstStyle/>
          <a:p>
            <a:pPr algn="ctr">
              <a:defRPr sz="1300" b="1">
                <a:solidFill>
                  <a:srgbClr val="1B5E20"/>
                </a:solidFill>
              </a:defRPr>
            </a:pPr>
            <a:r>
              <a:rPr/>
              <a:t>Carbon Footprint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Bagasse = biomass (CO₂ netral)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Mengurangi ketergantungan fossil fuel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PROPER KLHK (Blue/Green rating)</a:t>
            </a:r>
          </a:p>
          <a:p>
            <a:pPr>
              <a:spcBef>
                <a:spcPts val="200"/>
              </a:spcBef>
              <a:defRPr sz="1200">
                <a:solidFill>
                  <a:srgbClr val="424242"/>
                </a:solidFill>
              </a:defRPr>
            </a:pPr>
            <a:r>
              <a:rPr/>
              <a:t>• Potensi carbon credit trading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5688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Pabrik gula punya DNA sustainability — bagasse sebagai energi + by-product sebagai revenue = model circular economy.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Keselamatan &amp; Kesehatan Kerja (K3)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Safety First — Operasi aman, produktivitas terjaga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18 / 21  •  Overview Operasional &amp; Proses Produksi Pabrik Gula  |  Internal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00000"/>
            <a:ext cx="540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Potensi Bahaya di Pabrik Gula: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Mesin berputar (gilingan, centrifuge, turbin) → risiko terjerat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Suhu tinggi (boiler, evaporator, pan masakan) → risiko luka bakar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Ketinggian (tangki, cerobong, conveyor) → risiko jatuh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Kebisingan (area gilingan &gt;85 dB) → gangguan pendengaran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Bahan kimia (kapur, belerang, asam) → iritasi kulit/mata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• Debu gula (area dryer, packaging) → risiko respirasi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800000"/>
            <a:ext cx="540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rPr/>
              <a:t>Penerapan K3 di Pabrik Gula: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1. APD Wajib: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 Helm, safety shoes, earplug, goggle, sarung tangan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2. Sistem Izin Kerja: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 Hot work permit, confined space permit, LOTO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3. Training &amp; Drill: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 Induction safety, fire drill, emergency response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4. Inspeksi Rutin: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 Safety patrol harian, audit K3 bulanan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5. Pelaporan &amp; Investigasi: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 Near-miss reporting, incident investigation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6. Safety Committee:</a:t>
            </a:r>
          </a:p>
          <a:p>
            <a:pPr algn="l">
              <a:spcAft>
                <a:spcPts val="400"/>
              </a:spcAft>
              <a:defRPr sz="1300">
                <a:solidFill>
                  <a:srgbClr val="424242"/>
                </a:solidFill>
                <a:latin typeface="Calibri"/>
              </a:defRPr>
            </a:pPr>
            <a:r>
              <a:rPr/>
              <a:t>   P2K3 (Panitia Pembina K3) aktif &amp; meeting rutin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594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Zero accident adalah target — K3 bukan sekadar aturan, tapi budaya kerja yang melindungi semua karyawan.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Tantangan Operasional Pabrik Gula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Hambatan &amp; Bottleneck — Yang harus dihadapi industri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19 / 21  •  Overview Operasional &amp; Proses Produksi Pabrik Gula  |  Internal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1800000"/>
            <a:ext cx="3528000" cy="1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rPr/>
              <a:t>Produktivitas Rendah</a:t>
            </a:r>
          </a:p>
          <a:p>
            <a:pPr>
              <a:spcBef>
                <a:spcPts val="600"/>
              </a:spcBef>
              <a:defRPr sz="1200">
                <a:solidFill>
                  <a:srgbClr val="424242"/>
                </a:solidFill>
              </a:defRPr>
            </a:pPr>
            <a:r>
              <a:rPr/>
              <a:t>Rendemen RI 6–8% vs Thailand 10–12%. Penyebab: varietas tebu, umur ratoon, masa tebang.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0000" y="1800000"/>
            <a:ext cx="3528000" cy="1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4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6D4C41"/>
                </a:solidFill>
              </a:defRPr>
            </a:pPr>
            <a:r>
              <a:rPr/>
              <a:t>Teknologi Tua</a:t>
            </a:r>
          </a:p>
          <a:p>
            <a:pPr>
              <a:spcBef>
                <a:spcPts val="600"/>
              </a:spcBef>
              <a:defRPr sz="1200">
                <a:solidFill>
                  <a:srgbClr val="424242"/>
                </a:solidFill>
              </a:defRPr>
            </a:pPr>
            <a:r>
              <a:rPr/>
              <a:t>Banyak mesin berusia &gt;30 tahun. Breakdown tinggi, efisiensi rendah, spare parts langka.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80000" y="1800000"/>
            <a:ext cx="3528000" cy="1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1B5E20"/>
                </a:solidFill>
              </a:defRPr>
            </a:pPr>
            <a:r>
              <a:rPr/>
              <a:t>Kualitas Bahan Baku</a:t>
            </a:r>
          </a:p>
          <a:p>
            <a:pPr>
              <a:spcBef>
                <a:spcPts val="600"/>
              </a:spcBef>
              <a:defRPr sz="1200">
                <a:solidFill>
                  <a:srgbClr val="424242"/>
                </a:solidFill>
              </a:defRPr>
            </a:pPr>
            <a:r>
              <a:rPr/>
              <a:t>Tebu kotor (trash &gt;5%), pol rendah, terlambat giling. Petani belum optimal menerapkan standar.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3888000"/>
            <a:ext cx="3528000" cy="1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F9A825"/>
                </a:solidFill>
              </a:defRPr>
            </a:pPr>
            <a:r>
              <a:rPr/>
              <a:t>Margin Tipis</a:t>
            </a:r>
          </a:p>
          <a:p>
            <a:pPr>
              <a:spcBef>
                <a:spcPts val="600"/>
              </a:spcBef>
              <a:defRPr sz="1200">
                <a:solidFill>
                  <a:srgbClr val="424242"/>
                </a:solidFill>
              </a:defRPr>
            </a:pPr>
            <a:r>
              <a:rPr/>
              <a:t>HPP Rp 9–11rb/kg vs harga jual terkontrol. Sensitif terhadap rendemen &amp; harga tebu.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0000" y="3888000"/>
            <a:ext cx="3528000" cy="1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424242"/>
                </a:solidFill>
              </a:defRPr>
            </a:pPr>
            <a:r>
              <a:rPr/>
              <a:t>SDM &amp; Regenerasi</a:t>
            </a:r>
          </a:p>
          <a:p>
            <a:pPr>
              <a:spcBef>
                <a:spcPts val="600"/>
              </a:spcBef>
              <a:defRPr sz="1200">
                <a:solidFill>
                  <a:srgbClr val="424242"/>
                </a:solidFill>
              </a:defRPr>
            </a:pPr>
            <a:r>
              <a:rPr/>
              <a:t>Operator senior pensiun, generasi muda kurang tertarik. Perlu training intensif &amp; sertifikasi.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0000" y="3888000"/>
            <a:ext cx="3528000" cy="1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rPr/>
              <a:t>Risiko Iklim</a:t>
            </a:r>
          </a:p>
          <a:p>
            <a:pPr>
              <a:spcBef>
                <a:spcPts val="600"/>
              </a:spcBef>
              <a:defRPr sz="1200">
                <a:solidFill>
                  <a:srgbClr val="424242"/>
                </a:solidFill>
              </a:defRPr>
            </a:pPr>
            <a:r>
              <a:rPr/>
              <a:t>El Niño/La Niña ganggu jadwal giling. Hujan saat musim giling = tebu basah, rendemen turun.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5940000"/>
            <a:ext cx="10440000" cy="648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76200"/>
          <a:lstStyle/>
          <a:p>
            <a:pPr algn="ctr">
              <a:defRPr sz="1400" b="1">
                <a:solidFill>
                  <a:srgbClr val="1B5E20"/>
                </a:solidFill>
                <a:latin typeface="Calibri"/>
              </a:defRPr>
            </a:pPr>
            <a:r>
              <a:rPr/>
              <a:t>Key Takeaway: Tantangan terbesar: rendemen rendah &amp; teknologi tua. Solusi: modernisasi + digitalisasi + kualitas tebu.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5E20"/>
                </a:solidFill>
                <a:latin typeface="Calibri"/>
              </a:defRPr>
            </a:pPr>
            <a:r>
              <a:rPr/>
              <a:t>Kesimpulan &amp; Ringkasan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  <a:latin typeface="Calibri"/>
              </a:defRPr>
            </a:pPr>
            <a:r>
              <a:rPr/>
              <a:t>5 Key Takeaways dari presentasi 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E9E9E"/>
                </a:solidFill>
                <a:latin typeface="Calibri"/>
              </a:defRPr>
            </a:pPr>
            <a:r>
              <a:rPr/>
              <a:t>20 / 21  •  Overview Operasional &amp; Proses Produksi Pabrik Gula  |  Internal Use</a:t>
            </a:r>
          </a:p>
        </p:txBody>
      </p:sp>
      <p:sp>
        <p:nvSpPr>
          <p:cNvPr id="5" name="Oval 4"/>
          <p:cNvSpPr/>
          <p:nvPr/>
        </p:nvSpPr>
        <p:spPr>
          <a:xfrm>
            <a:off x="900000" y="1800000"/>
            <a:ext cx="540000" cy="54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0000" y="1800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Proses Terintegrasi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0" y="180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rPr/>
              <a:t>Pabrik gula menjalankan 9 tahapan proses kontinu selama 24/7 di musim giling. Dari tebu masuk hingga gula terkemas = 24–48 jam.</a:t>
            </a:r>
          </a:p>
        </p:txBody>
      </p:sp>
      <p:sp>
        <p:nvSpPr>
          <p:cNvPr id="8" name="Oval 7"/>
          <p:cNvSpPr/>
          <p:nvPr/>
        </p:nvSpPr>
        <p:spPr>
          <a:xfrm>
            <a:off x="900000" y="2664000"/>
            <a:ext cx="540000" cy="54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0000" y="2664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Multi Revenue 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0" y="2664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rPr/>
              <a:t>Gula (70–80% revenue) + by-product 15–25% (molasses, bagasse, blotong, listrik). Model circular economy.</a:t>
            </a:r>
          </a:p>
        </p:txBody>
      </p:sp>
      <p:sp>
        <p:nvSpPr>
          <p:cNvPr id="11" name="Oval 10"/>
          <p:cNvSpPr/>
          <p:nvPr/>
        </p:nvSpPr>
        <p:spPr>
          <a:xfrm>
            <a:off x="900000" y="3528000"/>
            <a:ext cx="540000" cy="54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0000" y="352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KPI Raja: Rendemen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0" y="3528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rPr/>
              <a:t>Rendemen 8–10% = ukuran keberhasilan utama. Naik 1% rendemen bisa naikkan profit secara signifikan.</a:t>
            </a:r>
          </a:p>
        </p:txBody>
      </p:sp>
      <p:sp>
        <p:nvSpPr>
          <p:cNvPr id="14" name="Oval 13"/>
          <p:cNvSpPr/>
          <p:nvPr/>
        </p:nvSpPr>
        <p:spPr>
          <a:xfrm>
            <a:off x="900000" y="4391999"/>
            <a:ext cx="540000" cy="54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0000" y="4391999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GMP &amp; QC Ketat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0" y="4391999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rPr/>
              <a:t>Kualitas dijaga dari bahan baku hingga produk akhir. Lab beroperasi 24 jam, sampling tiap 2 jam.</a:t>
            </a:r>
          </a:p>
        </p:txBody>
      </p:sp>
      <p:sp>
        <p:nvSpPr>
          <p:cNvPr id="17" name="Oval 16"/>
          <p:cNvSpPr/>
          <p:nvPr/>
        </p:nvSpPr>
        <p:spPr>
          <a:xfrm>
            <a:off x="900000" y="5256000"/>
            <a:ext cx="540000" cy="54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000" y="5256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5E20"/>
                </a:solidFill>
                <a:latin typeface="Calibri"/>
              </a:defRPr>
            </a:pPr>
            <a:r>
              <a:rPr/>
              <a:t>Peluang Besar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0000" y="5256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rPr/>
              <a:t>Digitalisasi, modernisasi, co-generation, dan diversifikasi = potensi peningkatan EBITDA 20–30%.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00" y="144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/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0000" y="252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5D6A7"/>
                </a:solidFill>
                <a:latin typeface="Calibri"/>
              </a:defRPr>
            </a:pPr>
            <a:r>
              <a:rPr/>
              <a:t>Siap menerima pertanyaan, diskusi, &amp; masukan.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80000" y="3600000"/>
            <a:ext cx="2880000" cy="54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80000" y="3960000"/>
            <a:ext cx="1008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C8E6C9"/>
                </a:solidFill>
                <a:latin typeface="Calibri"/>
              </a:defRPr>
            </a:pPr>
            <a:r>
              <a:rPr/>
              <a:t>Referensi Utama:</a:t>
            </a:r>
          </a:p>
          <a:p>
            <a:pPr algn="l">
              <a:spcAft>
                <a:spcPts val="400"/>
              </a:spcAft>
              <a:defRPr sz="1300">
                <a:solidFill>
                  <a:srgbClr val="C8E6C9"/>
                </a:solidFill>
                <a:latin typeface="Calibri"/>
              </a:defRPr>
            </a:pPr>
            <a:r>
              <a:rPr/>
              <a:t>• Hugot, E. — Handbook of Cane Sugar Engineering (1960)</a:t>
            </a:r>
          </a:p>
          <a:p>
            <a:pPr algn="l">
              <a:spcAft>
                <a:spcPts val="400"/>
              </a:spcAft>
              <a:defRPr sz="1300">
                <a:solidFill>
                  <a:srgbClr val="C8E6C9"/>
                </a:solidFill>
                <a:latin typeface="Calibri"/>
              </a:defRPr>
            </a:pPr>
            <a:r>
              <a:rPr/>
              <a:t>• Good Management Practices Manual for the Cane Sugar Industry</a:t>
            </a:r>
          </a:p>
          <a:p>
            <a:pPr algn="l">
              <a:spcAft>
                <a:spcPts val="400"/>
              </a:spcAft>
              <a:defRPr sz="1300">
                <a:solidFill>
                  <a:srgbClr val="C8E6C9"/>
                </a:solidFill>
                <a:latin typeface="Calibri"/>
              </a:defRPr>
            </a:pPr>
            <a:r>
              <a:rPr/>
              <a:t>• Laporan Kerja Praktik: Rika Aisyah &amp; Vera Arum (2031910045/052)</a:t>
            </a:r>
          </a:p>
          <a:p>
            <a:pPr algn="l">
              <a:spcAft>
                <a:spcPts val="400"/>
              </a:spcAft>
              <a:defRPr sz="1300">
                <a:solidFill>
                  <a:srgbClr val="C8E6C9"/>
                </a:solidFill>
                <a:latin typeface="Calibri"/>
              </a:defRPr>
            </a:pPr>
            <a:r>
              <a:rPr/>
              <a:t>• Denik Sentoso — Naskah Publikasi Jurnal</a:t>
            </a:r>
          </a:p>
          <a:p>
            <a:pPr algn="l">
              <a:spcAft>
                <a:spcPts val="400"/>
              </a:spcAft>
              <a:defRPr sz="1300">
                <a:solidFill>
                  <a:srgbClr val="C8E6C9"/>
                </a:solidFill>
                <a:latin typeface="Calibri"/>
              </a:defRPr>
            </a:pPr>
            <a:r>
              <a:rPr/>
              <a:t>• Jurnal Teknologi Gula — Article Text 6234</a:t>
            </a:r>
          </a:p>
          <a:p>
            <a:pPr algn="l">
              <a:spcAft>
                <a:spcPts val="400"/>
              </a:spcAft>
              <a:defRPr sz="1300">
                <a:solidFill>
                  <a:srgbClr val="C8E6C9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300">
                <a:solidFill>
                  <a:srgbClr val="C8E6C9"/>
                </a:solidFill>
                <a:latin typeface="Calibri"/>
              </a:defRPr>
            </a:pPr>
            <a:r>
              <a:rPr/>
              <a:t>Presentasi Internal  •  2026  •  Overview Operasional &amp; Proses Produksi Pabrik Gula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