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OVERVIEW ALUR BISNIS PABRIK GULA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Komprehensif: Kebun - Pabrik - Distribusi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Agenda Presentasi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1. Gambaran Industri Gula Indonesia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2. Value Chain &amp; Alur Bisnis End-to-End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3. Karakteristik Tebu &amp; Parameter Kualitas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4. Proses Produksi Detail (9 Tahapan)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5. Produk Utama &amp; Produk Samping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6. Pengelolaan Limbah &amp; Lingkungan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7. Struktur Organisasi &amp; Divisi Operasional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8. KPI &amp; Monitoring Real-Time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9. Bottleneck, Tantangan &amp; Risiko Operasional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10. Peluang Improvement &amp; Modernisasi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11. Model Bisnis &amp; Revenue Streams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12. Kesimpulan &amp; Rekomendasi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Gambaran Industri Gula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Posisi global: Produsen ke-10 dunia, konsumen ke-4 dunia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Produksi nasional: 2,2 juta ton/tahun (kapasitas 2,8 juta ton)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Kebutuhan: 5-6 juta ton/tahun → Gap impor ~50%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Jumlah PG aktif: ~60 unit (PTPN, swasta, rakyat)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Luas lahan tebu: ~450.000 ha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Tenaga kerja: ~200.000 orang (langsung + tidak langsung)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Nilai industri: Rp 50-70 triliun/tahun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Musim giling: April-November (180-210 hari)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Kompetitor: Thailand (rendemen 12%), Brasil, India, Australia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Value Chain Industri Gula (End-to-End)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UPSTREAM: Kebun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Persiapan lahan &amp; tanam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Pemupukan &amp; pemeliharaan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Pengendalian hama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Panen (tebang angkut)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QC tebu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MIDSTREAM: Pabrik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Penerimaan tebu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Cane preparation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Milling (giling)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Juice treatment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Evaporation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Crystallization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Centrifugation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Drying &amp; packaging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DOWNSTREAM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Warehouse management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Distribusi (retail/industri)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Sales &amp; marketing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SUPPORTING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Maintenance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QC lab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Utility (boiler, listrik)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HSE &amp; K3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Finance &amp; HR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Karakteristik Tebu &amp; Parameter Kualitas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TEBU (Saccharum officinarum)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Masa tanam: 10-14 bulan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Ratoon: 8-10 bulan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Tinggi: 2-4 meter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Diameter: 2-5 cm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PARAMETER KUALITAS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Pol (sukrosa): 8-14%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Brix: 18-22%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HK (Hablur Kristal): &gt;8%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Kadar air: 70-75%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Serat: 11-16%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Kadar abu: 0,3-0,8%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Rendemen teoritis: 9-12%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FAKTOR WAKTU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Fresh cane: &lt;24 jam panen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Delay 1 jam: pol turun 0,1%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Tebu tua (&gt;14 bln): pol turun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Tebu muda (&lt;10 bln): pol rendah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TARGET PG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Pol tebu: &gt;10%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Kebersihan: &lt;5% trash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Rendemen aktual: 8-10%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Alur Bisnis Pabrik Gula: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KEBUN → Tebu dipanen (manual/mekanis)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TRANSPORTASI → Truk/lori ke pabrik (&lt;24 jam)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PABRIK → Proses 12-24 jam non-stop (24/7 saat musim)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OUTPUT → Gula kristal (8-10 ton) + By-products (molasses, bagasse, blotong)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GUDANG → Storage &amp; quality check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  ↓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DISTRIBUSI → Retail (50kg bag) / Industri (bulk) / Ekspor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Lead time total: 24-48 jam (tebu tebang s/d gula siap jual)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Proses Produksi: 9 Tahapan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1. PENERIMAAN TEBU: Timbang, sampling (pol, brix, trash)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2. CANE HANDLING: Unloading, cane carrier, cane cutter/shredder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3. MILLING: 4-7 gilingan, ekstraksi nira (juice) + ampas (bagasse)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4. CLARIFICATION: Heating, sulfitasi, defekasi → nira jernih + blotong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5. EVAPORATION: Multi-effect evaporator, brix 12% → 65%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6. CRYSTALLIZATION: Vacuum pan A-C-D, brix 65% → 92%, massecuite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7. CENTRIFUGATION: Pisahkan kristal gula + molasses (tetes)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8. DRYING &amp; COOLING: Kadar air 2-3% → 0,5%, suhu 65°C → 35°C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9. PACKAGING: Karung 50kg / bulk → gudang → distribusi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Detail Proses: Milling &amp; Clarification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MILLING (Gilingan)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Jumlah: 4-7 unit gilingan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Tekanan: 250-300 kg/cm²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Kecepatan: 3-5 RPM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Imbibisi: Air panas 70-80°C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Output nira: 70-75% dari tebu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Ekstraksi pol: 92-96%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Output bagasse: 28-32%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Kadar air bagasse: 48-52%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CLARIFICATION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Heating: 70-105°C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Sulfitasi: SO2 gas 200-300 ppm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pH kontrol: 7,0-7,2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Defekasi: Tambah kapur (CaO)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Dosis kapur: 0,5-1,5% tebu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Waktu reaksi: 15-30 menit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Output nira jernih: 85-90%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Blotong: 2-4% tebu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Pol losses: &lt;0,3%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Detail Proses: Evaporation &amp; Crystallization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EVAPORATION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Sistem: Multi-effect (4-5 badan)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Brix masuk: 12-15%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Brix keluar: 60-65%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Tekanan vakum: 0,3-0,7 bar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Suhu: 60-120°C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Efisiensi: Hemat steam 75%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Waktu: 2-3 jam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CRYSTALLIZATION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Vacuum pan: A, C, D (3 tingkat)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Pan A: Gula produk (SHS)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Pan C: Gula antara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Pan D: Gula sirkulasi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Brix massecuite: 92-94%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Supersaturasi: 1,2-1,3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Waktu masakan: 3-5 jam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Kristal size: 0,6-1,0 mm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Detail Proses: Centrifuge - Packaging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CENTRIFUGATION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Putaran: 1000-1500 RPM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Waktu: 2-3 menit per batch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Air pencuci: 2-4% berat gula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Output: Gula kristal SHS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Molasses: 4-5% tebu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Kadar air gula: 1,5-2,5%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DRYING &amp; COOLING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Rotary dryer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Suhu udara: 80-110°C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Kadar air: 2,5% → 0,5%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Cooler: Suhu 65°C → 35-40°C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PACKAGING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Karung: 50 kg per bag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Bulk: Big bag 1 ton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Gudang: Suhu 25-30°C, RH &lt;65%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Produk Utama &amp; Produk Samping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PRODUK UTAMA: GULA SHS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Superior High Sugar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Pol: ≥99,3%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ICUMSA: 150-600 (kuning-coklat)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Kadar air: ≤0,5%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Kemurnian: ≥99%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Ukuran kristal: 0,6-1,0 mm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Rendemen: 8-10%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Dari 100 ton tebu → 8-10 ton gula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PRODUK SAMPING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Molasses (Tetes): 4-5 ton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Pakan ternak, alkohol, MSG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Harga: Rp 1.500-2.500/kg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Bagasse (Ampas): 30 ton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Bahan bakar boiler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Co-gen listrik 30-50 kWh/ton tebu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Blotong (Filter Cake): 3-4 ton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Pupuk organik N-P-K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4. Abu boiler: 1-2 ton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Bahan bangunan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Total revenue by-products: 15-25%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Pengelolaan Limbah &amp; Lingkungan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LIMBAH CAIR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Volume: 300-500 m³/hari (per 1000 TCD)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COD input: 1000-2000 mg/L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COD output: &lt;300 mg/L (standar &lt;350)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BOD output: &lt;150 mg/L (standar &lt;150)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pH: 6-9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Sistem: IPAL aerob-anaerob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Waktu retensi: 7-14 hari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LIMBAH PADAT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Blotong: Pupuk organik (kompos)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Abu boiler: Bahan bangunan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Trash tebu: Mulsa kebun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EMISI UDARA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SO2: &lt;800 mg/Nm³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NOx: &lt;700 mg/Nm³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Partikulat: &lt;150 mg/Nm³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Cerobong boiler: Monitoring 24/7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SERTIFIKASI: ISO 14001, PROPER hijau/biru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Struktur Organisasi Pabrik Gula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DIREKSI: Direktur Utama, Direktur Produksi, Direktur SDM &amp; Keuangan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6 DIVISI UTAMA: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1. DIVISI TANAMAN: Budidaya, panen, tebang angkut, QC kebun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2. DIVISI PABRIKASI: Produksi gula 24/7 (3 shift x 8 jam)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3. DIVISI INSTALASI: Maintenance mesin, boiler, listrik, air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4. DIVISI KEUANGAN: Cash flow, payroll, accounting, tax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5. DIVISI SDM &amp; UMUM: Rekrutmen, training, K3, security, gudang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6. DIVISI PEMASARAN: Sales, distribusi, customer service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SUPPORTING: QC Lab, HSE, IT, Legal, Procurement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Total karyawan: 500-1500 orang (tetap + musiman)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Performance Indicators (KPI)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KPI PRODUKSI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RENDEMEN: 8-10%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Formula: (Gula/Tebu) x 100%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RECOVERY POL: 92-96%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% pol terekstrak dari tebu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KAPASITAS GILING: 3.000-6.000 TCD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4. OVERALL RECOVERY: &gt;82%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Rendemen aktual/teoritis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5. POL LOSSES: &lt;2,5%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Pol hilang di proses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KPI OPERASIONAL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Efisiensi pabrik: &gt;85%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Downtime: &lt;15%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OEE: &gt;75%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MTBF (Mean Time Between Failure): &gt;500 jam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MTTR (Mean Time To Repair): &lt;4 jam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KPI FINANSIAL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EBITDA margin: 15-25%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HPP (Cost per kg): Rp 9.000-11.000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Revenue per ton tebu: Rp 1,5-2 juta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Working capital turnover: 4-6x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Monitoring Manajemen Real-Time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DASHBOARD SCADA (24/7)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Kapasitas giling per jam/hari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Rendemen &amp; recovery real-time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Brix, pol di setiap stasiun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Tekanan steam boiler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Level nira di tangki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Status mesin (running/stop)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Alarm &amp; warning system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MONITORING HARIAN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Produksi gula &amp; molasses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Stok tebu di emplacement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Antrian truk tebu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Konsumsi bahan pembantu (kapur, SO2, flocculant)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Breakdown &amp; maintenance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Absensi karyawan shift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MONITORING MINGGUAN/BULANAN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Cash flow &amp; HPP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Target vs actual production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Penjualan &amp; piutang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Safety incident rate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Efisiensi &amp; OEE trend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Bottleneck &amp; Tantangan Operasional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BOTTLENECK OPERASIONAL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Kualitas tebu rendah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Pol &lt;8%, trash &gt;10%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Rendemen turun 1-2%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Breakdown mesin kritis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Gilingan, boiler, centrifuge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Stop produksi → losses besar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Keterlambatan pasokan tebu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Antrian &gt;48 jam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Tebu menua, pol turun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4. Cuaca ekstrem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Hujan → tebu basah, pol turun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Kemarau → tebu kering, serat tinggi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5. Shortage SDM terampil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Operator, teknisi langka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6. Kapasitas terbatas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- Demand tinggi, kapasitas tetap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MITIGASI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Preventive maintenance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Training &amp; sertifikasi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Buffer stock tebu 2-3 hari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Weather forecasting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Spare parts inventory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Backward integration petani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Upgrade capacity bertahap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Tantangan Industri Gula Indonesia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1. Produktivitas rendah: Rendemen 6-8% vs Thailand 10-12%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2. Impor tinggi: ~50% kebutuhan nasional bergantung impor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3. Biaya produksi tinggi: HPP Rp 9.000-11.000/kg vs harga jual Rp 12.000-15.000/kg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4. Teknologi tua: Mesin rata-rata &gt;30 tahun, efisiensi rendah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5. Lahan terbatas: Kompetisi dengan sawit, properti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6. Persaingan global: Gula impor lebih murah (Thailand, Brasil)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7. Regulasi harga: Floor/ceiling price pemerintah → margin tipis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8. Perubahan iklim: El Nino, La Nina → musim tidak menentu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9. Regenerasi petani: Petani tua, generasi muda tidak tertarik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10. Akses modal: Bunga kredit tinggi, investasi modernisasi berat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Peluang Improvement &amp; Modernisasi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DIGITALISASI &amp; AUTOMASI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IoT sensors real-time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AI/ML untuk optimasi proses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Predictive maintenance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4. Automated quality control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5. ERP integrated system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Potensi: Efisiensi +10-15%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MODERNISASI MESIN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High-pressure boiler (80-100 bar)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Continuous pan crystallizer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Auto centrifuge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4. Modern milling (diffuser)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Potensi: Rendemen +1-2%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CO-GENERATION LISTRIK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Jual surplus ke PLN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Harga: Rp 1.000-1.200/kWh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Potensi: 50-80 kWh/ton tebu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ROI: 5-7 tahun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- Revenue tambahan: 5-10%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DIVERSIFIKASI PRODUK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Bioethanol dari molasses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Refined sugar (putih)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Gula khusus (caster, icing)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4. Pellet bagasse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5. Kompos premium dari blotong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Potensi: Revenue +15-25%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 Bisnis: Revenue &amp; Cost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REVENUE STREAMS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Gula SHS (70-80%)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Rp 12.000-15.000/kg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Margin: 20-30%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Molasses (10-15%)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Rp 1.500-2.500/kg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Listrik co-gen (5-10%)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Rp 1.000-1.200/kWh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4. Blotong (2-3%)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Rp 200-500/kg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5. Lain-lain (1-2%)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Abu, trash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Total revenue: Rp 1,5-2 juta/ton tebu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280160"/>
            <a:ext cx="41148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• COST STRUCTURE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1. Bahan baku tebu (50-60%)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Rp 600-700/kw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2. Operasional &amp; energi (20-25%)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Kapur, SO2, listrik, air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3. SDM &amp; overhead (10-15%)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Gaji, tunjangan, training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4. Maintenance (5-8%)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   Spare parts, jasa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5. Distribusi &amp; admin (3-5%)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MARGIN EBITDA: 15-25%</a:t>
            </a:r>
          </a:p>
          <a:p>
            <a:pPr>
              <a:spcAft>
                <a:spcPts val="1000"/>
              </a:spcAft>
              <a:defRPr sz="1400">
                <a:solidFill>
                  <a:srgbClr val="333333"/>
                </a:solidFill>
              </a:defRPr>
            </a:pPr>
            <a:r>
              <a:t>Break-even: Rendemen &gt;7,5%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Analisis Risiko &amp; Mitigasi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RISIKO OPERASIONAL (High)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Breakdown mesin → Stop produksi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Mitigasi: Preventive maintenance, spare parts buffer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RISIKO SUPPLY CHAIN (High)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Pasokan tebu terlambat/kurang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Mitigasi: Kontrak petani mitra, buffer stock 2-3 hari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RISIKO KUALITAS (Medium)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Pol tebu rendah → rendemen turun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Mitigasi: Varietas unggul, panen tepat waktu, QC ketat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RISIKO FINANSIAL (Medium)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Harga jual turun, biaya naik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Mitigasi: Hedging harga, efisiensi operasional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RISIKO LINGKUNGAN (Low-Medium)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Limbah tidak memenuhi standar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- Mitigasi: IPAL upgrade, monitoring 24/7, PROPER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Kesimpulan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✅ Pabrik gula = bisnis padat modal, padat karya, seasonal (6-7 bulan/tahun)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✅ Proses produksi: 9 tahapan, lead time 24-48 jam, teknologi mature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✅ Value creation: Gula (70-80%) + 4 by-products (15-25%) = circular economy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✅ Profitabilitas: EBITDA 15-25%, sangat tergantung rendemen &amp; harga jual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✅ KPI kritis: Rendemen (8-10%), Recovery (92-96%), Kapasitas (3-6K TCD), Losses (&lt;2,5%)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✅ Tantangan besar: Produktivitas rendah, impor tinggi, teknologi tua, margin tipis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✅ Peluang signifikan: Digitalisasi (AI/IoT), modernisasi mesin, co-generation listrik, diversifikasi produk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✅ Potensi improvement: Rendemen +1-2%, efisiensi +10-15%, EBITDA +20-30%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✅ Industri strategis: Ketahanan pangan, lapangan kerja, devisa, renewable energy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Rekomendasi Strategic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1. JANGKA PENDEK (1-2 tahun)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Optimasi proses existing (training, SOP, monitoring ketat)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Backward integration petani mitra → kualitas tebu konsisten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Quick wins: Kurangi pol losses, tingkatkan OEE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2. JANGKA MENENGAH (3-5 tahun)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Modernisasi selective: Boiler, crystallizer, automation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Co-generation listrik → jual surplus ke PLN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Digitalisasi: IoT sensors, SCADA upgrade, ERP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3. JANGKA PANJANG (5-10 tahun)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Total plant revamp atau greenfield baru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Diversifikasi: Bioethanol, refined sugar, gula specialty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R&amp;D: Varietas tebu unggul (pol &gt;12%), precision agriculture</a:t>
            </a:r>
          </a:p>
          <a:p>
            <a:pPr>
              <a:spcAft>
                <a:spcPts val="1200"/>
              </a:spcAft>
              <a:defRPr sz="1500">
                <a:solidFill>
                  <a:srgbClr val="333333"/>
                </a:solidFill>
              </a:defRPr>
            </a:pPr>
            <a:r>
              <a:t>• Ekspor: Target pasar regional (ASEAN, Timur Tengah)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Pertanyaan &amp; Diskusi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