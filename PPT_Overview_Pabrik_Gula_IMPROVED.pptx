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</a:defRPr>
            </a:pPr>
            <a:r>
              <a:t>OVERVIEW ALUR BISNIS PABRIK GULA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95959"/>
                </a:solidFill>
              </a:defRPr>
            </a:pPr>
            <a:r>
              <a:t>Dari Kebun hingga Distribusi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Gambaran Industri Gula Indonesia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/>
            </a:pPr>
            <a:r>
              <a:t>• Indonesia: produsen gula terbesar ke-10 dunia</a:t>
            </a:r>
          </a:p>
          <a:p>
            <a:pPr>
              <a:spcAft>
                <a:spcPts val="1200"/>
              </a:spcAft>
              <a:defRPr sz="1600"/>
            </a:pPr>
            <a:r>
              <a:t>• Produksi nasional: ±2,2 juta ton/tahun</a:t>
            </a:r>
          </a:p>
          <a:p>
            <a:pPr>
              <a:spcAft>
                <a:spcPts val="1200"/>
              </a:spcAft>
              <a:defRPr sz="1600"/>
            </a:pPr>
            <a:r>
              <a:t>• Kebutuhan nasional: ±5-6 juta ton/tahun (impor ±50%)</a:t>
            </a:r>
          </a:p>
          <a:p>
            <a:pPr>
              <a:spcAft>
                <a:spcPts val="1200"/>
              </a:spcAft>
              <a:defRPr sz="1600"/>
            </a:pPr>
            <a:r>
              <a:t>• Pabrik gula aktif: ±60 unit (BUMN, swasta, rakyat)</a:t>
            </a:r>
          </a:p>
          <a:p>
            <a:pPr>
              <a:spcAft>
                <a:spcPts val="1200"/>
              </a:spcAft>
              <a:defRPr sz="1600"/>
            </a:pPr>
            <a:r>
              <a:t>• Musim giling: April - November (±6-7 bulan)</a:t>
            </a:r>
          </a:p>
          <a:p>
            <a:pPr>
              <a:spcAft>
                <a:spcPts val="1200"/>
              </a:spcAft>
              <a:defRPr sz="1600"/>
            </a:pPr>
            <a:r>
              <a:t>• Kontribusi: lapangan kerja, devisa, gula strategis nasional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Value Chain Industri Gula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/>
            </a:pPr>
            <a:r>
              <a:t>1. UPSTREAM: Budidaya tebu (perkebunan sendiri + petani mitra)</a:t>
            </a:r>
          </a:p>
          <a:p>
            <a:pPr>
              <a:spcAft>
                <a:spcPts val="1200"/>
              </a:spcAft>
              <a:defRPr sz="1600"/>
            </a:pPr>
            <a:r>
              <a:t>2. MIDSTREAM: Pabrik gula - pengolahan tebu jadi kristal gula</a:t>
            </a:r>
          </a:p>
          <a:p>
            <a:pPr>
              <a:spcAft>
                <a:spcPts val="1200"/>
              </a:spcAft>
              <a:defRPr sz="1600"/>
            </a:pPr>
            <a:r>
              <a:t>3. DOWNSTREAM: Distribusi &amp; penjualan (retail, industri, ekspor)</a:t>
            </a:r>
          </a:p>
          <a:p>
            <a:pPr>
              <a:spcAft>
                <a:spcPts val="1200"/>
              </a:spcAft>
              <a:defRPr sz="1600"/>
            </a:pPr>
            <a:r>
              <a:t>4. BY-PRODUCTS: Molasses, bagasse, blotong, listrik (co-gen)</a:t>
            </a:r>
          </a:p>
          <a:p>
            <a:pPr>
              <a:spcAft>
                <a:spcPts val="1200"/>
              </a:spcAft>
              <a:defRPr sz="1600"/>
            </a:pPr>
            <a:r>
              <a:t>• Integrasi vertikal: kebun → pabrik → distribusi</a:t>
            </a:r>
          </a:p>
          <a:p>
            <a:pPr>
              <a:spcAft>
                <a:spcPts val="1200"/>
              </a:spcAft>
              <a:defRPr sz="1600"/>
            </a:pPr>
            <a:r>
              <a:t>• Revenue streams: gula, molasses, energi listrik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Alur Bisnis Pabrik Gula: End-to-End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/>
            </a:pPr>
            <a:r>
              <a:t>KEBUN → tebu dipanen (manual/mekanis) → transportasi</a:t>
            </a:r>
          </a:p>
          <a:p>
            <a:pPr>
              <a:spcAft>
                <a:spcPts val="1200"/>
              </a:spcAft>
              <a:defRPr sz="1600"/>
            </a:pPr>
            <a:r>
              <a:t>↓</a:t>
            </a:r>
          </a:p>
          <a:p>
            <a:pPr>
              <a:spcAft>
                <a:spcPts val="1200"/>
              </a:spcAft>
              <a:defRPr sz="1600"/>
            </a:pPr>
            <a:r>
              <a:t>PABRIK → proses produksi (12-24 jam non-stop)</a:t>
            </a:r>
          </a:p>
          <a:p>
            <a:pPr>
              <a:spcAft>
                <a:spcPts val="1200"/>
              </a:spcAft>
              <a:defRPr sz="1600"/>
            </a:pPr>
            <a:r>
              <a:t>↓</a:t>
            </a:r>
          </a:p>
          <a:p>
            <a:pPr>
              <a:spcAft>
                <a:spcPts val="1200"/>
              </a:spcAft>
              <a:defRPr sz="1600"/>
            </a:pPr>
            <a:r>
              <a:t>OUTPUT → gula kristal + produk samping</a:t>
            </a:r>
          </a:p>
          <a:p>
            <a:pPr>
              <a:spcAft>
                <a:spcPts val="1200"/>
              </a:spcAft>
              <a:defRPr sz="1600"/>
            </a:pPr>
            <a:r>
              <a:t>↓</a:t>
            </a:r>
          </a:p>
          <a:p>
            <a:pPr>
              <a:spcAft>
                <a:spcPts val="1200"/>
              </a:spcAft>
              <a:defRPr sz="1600"/>
            </a:pPr>
            <a:r>
              <a:t>DISTRIBUSI → gudang → pasar/industri</a:t>
            </a:r>
          </a:p>
          <a:p>
            <a:pPr>
              <a:spcAft>
                <a:spcPts val="1200"/>
              </a:spcAft>
              <a:defRPr sz="1600"/>
            </a:pPr>
            <a:r>
              <a:t>• Lead time: tebu tebang sampai jadi gula = 24-48 jam</a:t>
            </a:r>
          </a:p>
          <a:p>
            <a:pPr>
              <a:spcAft>
                <a:spcPts val="1200"/>
              </a:spcAft>
              <a:defRPr sz="1600"/>
            </a:pPr>
            <a:r>
              <a:t>• Target: rendemen 8-10% (100 ton tebu → 8-10 ton gula)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Proses Produksi di Pabrik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/>
            </a:pPr>
            <a:r>
              <a:t>1. PENERIMAAN TEBU: timbangan, sampling kualitas (pol, brix)</a:t>
            </a:r>
          </a:p>
          <a:p>
            <a:pPr>
              <a:spcAft>
                <a:spcPts val="1200"/>
              </a:spcAft>
              <a:defRPr sz="1600"/>
            </a:pPr>
            <a:r>
              <a:t>2. CANE HANDLING: unloading, conveyor, cane preparation</a:t>
            </a:r>
          </a:p>
          <a:p>
            <a:pPr>
              <a:spcAft>
                <a:spcPts val="1200"/>
              </a:spcAft>
              <a:defRPr sz="1600"/>
            </a:pPr>
            <a:r>
              <a:t>3. MILLING (Penggilingan): ekstraksi nira mentah dari tebu</a:t>
            </a:r>
          </a:p>
          <a:p>
            <a:pPr>
              <a:spcAft>
                <a:spcPts val="1200"/>
              </a:spcAft>
              <a:defRPr sz="1600"/>
            </a:pPr>
            <a:r>
              <a:t>   - 4-7 unit gilingan</a:t>
            </a:r>
          </a:p>
          <a:p>
            <a:pPr>
              <a:spcAft>
                <a:spcPts val="1200"/>
              </a:spcAft>
              <a:defRPr sz="1600"/>
            </a:pPr>
            <a:r>
              <a:t>   - Ekstraksi pol: 92-96%</a:t>
            </a:r>
          </a:p>
          <a:p>
            <a:pPr>
              <a:spcAft>
                <a:spcPts val="1200"/>
              </a:spcAft>
              <a:defRPr sz="1600"/>
            </a:pPr>
            <a:r>
              <a:t>   - Output: nira mentah (juice) + ampas (bagasse)</a:t>
            </a:r>
          </a:p>
          <a:p>
            <a:pPr>
              <a:spcAft>
                <a:spcPts val="1200"/>
              </a:spcAft>
              <a:defRPr sz="1600"/>
            </a:pPr>
            <a:r>
              <a:t>4. CLARIFICATION (Pemurnian): heating, sulfitasi, defekasi</a:t>
            </a:r>
          </a:p>
          <a:p>
            <a:pPr>
              <a:spcAft>
                <a:spcPts val="1200"/>
              </a:spcAft>
              <a:defRPr sz="1600"/>
            </a:pPr>
            <a:r>
              <a:t>   - Tambah kapur + pemanasan → endapkan kotoran</a:t>
            </a:r>
          </a:p>
          <a:p>
            <a:pPr>
              <a:spcAft>
                <a:spcPts val="1200"/>
              </a:spcAft>
              <a:defRPr sz="1600"/>
            </a:pPr>
            <a:r>
              <a:t>   - Output: nira jernih + blotong (filter cake)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Proses Produksi di Pabrik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/>
            </a:pPr>
            <a:r>
              <a:t>5. EVAPORATION (Penguapan): nira jernih → nira kental</a:t>
            </a:r>
          </a:p>
          <a:p>
            <a:pPr>
              <a:spcAft>
                <a:spcPts val="1200"/>
              </a:spcAft>
              <a:defRPr sz="1600"/>
            </a:pPr>
            <a:r>
              <a:t>   - Multiple effect evaporator (4-5 badan)</a:t>
            </a:r>
          </a:p>
          <a:p>
            <a:pPr>
              <a:spcAft>
                <a:spcPts val="1200"/>
              </a:spcAft>
              <a:defRPr sz="1600"/>
            </a:pPr>
            <a:r>
              <a:t>   - Brix naik: 12-15% → 60-65%</a:t>
            </a:r>
          </a:p>
          <a:p>
            <a:pPr>
              <a:spcAft>
                <a:spcPts val="1200"/>
              </a:spcAft>
              <a:defRPr sz="1600"/>
            </a:pPr>
            <a:r>
              <a:t>   - Hemat energi dengan sistem multi-effect</a:t>
            </a:r>
          </a:p>
          <a:p>
            <a:pPr>
              <a:spcAft>
                <a:spcPts val="1200"/>
              </a:spcAft>
              <a:defRPr sz="1600"/>
            </a:pPr>
            <a:r>
              <a:t>6. CRYSTALLIZATION (Masakan): nira kental → kristal gula</a:t>
            </a:r>
          </a:p>
          <a:p>
            <a:pPr>
              <a:spcAft>
                <a:spcPts val="1200"/>
              </a:spcAft>
              <a:defRPr sz="1600"/>
            </a:pPr>
            <a:r>
              <a:t>   - Vacuum pan A, C, D (3 tingkat masakan)</a:t>
            </a:r>
          </a:p>
          <a:p>
            <a:pPr>
              <a:spcAft>
                <a:spcPts val="1200"/>
              </a:spcAft>
              <a:defRPr sz="1600"/>
            </a:pPr>
            <a:r>
              <a:t>   - Brix naik: 65% → 92-94%</a:t>
            </a:r>
          </a:p>
          <a:p>
            <a:pPr>
              <a:spcAft>
                <a:spcPts val="1200"/>
              </a:spcAft>
              <a:defRPr sz="1600"/>
            </a:pPr>
            <a:r>
              <a:t>   - Output: massecuite (campuran kristal + stroop)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Proses Produksi di Pabrik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/>
            </a:pPr>
            <a:r>
              <a:t>7. CENTRIFUGATION (Pemisahan): pisahkan kristal &amp; molasses</a:t>
            </a:r>
          </a:p>
          <a:p>
            <a:pPr>
              <a:spcAft>
                <a:spcPts val="1200"/>
              </a:spcAft>
              <a:defRPr sz="1600"/>
            </a:pPr>
            <a:r>
              <a:t>   - Putaran centrifuge: 1000-1500 RPM</a:t>
            </a:r>
          </a:p>
          <a:p>
            <a:pPr>
              <a:spcAft>
                <a:spcPts val="1200"/>
              </a:spcAft>
              <a:defRPr sz="1600"/>
            </a:pPr>
            <a:r>
              <a:t>   - Output: gula kristal (SHS) + tetes (molasses)</a:t>
            </a:r>
          </a:p>
          <a:p>
            <a:pPr>
              <a:spcAft>
                <a:spcPts val="1200"/>
              </a:spcAft>
              <a:defRPr sz="1600"/>
            </a:pPr>
            <a:r>
              <a:t>8. DRYING &amp; COOLING: keringkan gula kristal</a:t>
            </a:r>
          </a:p>
          <a:p>
            <a:pPr>
              <a:spcAft>
                <a:spcPts val="1200"/>
              </a:spcAft>
              <a:defRPr sz="1600"/>
            </a:pPr>
            <a:r>
              <a:t>   - Kadar air turun: 2-3% → 0,5%</a:t>
            </a:r>
          </a:p>
          <a:p>
            <a:pPr>
              <a:spcAft>
                <a:spcPts val="1200"/>
              </a:spcAft>
              <a:defRPr sz="1600"/>
            </a:pPr>
            <a:r>
              <a:t>   - Suhu turun: 65°C → 35-40°C</a:t>
            </a:r>
          </a:p>
          <a:p>
            <a:pPr>
              <a:spcAft>
                <a:spcPts val="1200"/>
              </a:spcAft>
              <a:defRPr sz="1600"/>
            </a:pPr>
            <a:r>
              <a:t>9. PACKAGING &amp; STORAGE: karung/bulk, gudang, distribusi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Produk Utama dan Produk Samping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/>
            </a:pPr>
            <a:r>
              <a:t>PRODUK UTAMA:</a:t>
            </a:r>
          </a:p>
          <a:p>
            <a:pPr>
              <a:spcAft>
                <a:spcPts val="1200"/>
              </a:spcAft>
              <a:defRPr sz="1600"/>
            </a:pPr>
            <a:r>
              <a:t>• Gula SHS (Superior High Sugar): pol ≥99,3%, ICUMSA 150-600</a:t>
            </a:r>
          </a:p>
          <a:p>
            <a:pPr>
              <a:spcAft>
                <a:spcPts val="1200"/>
              </a:spcAft>
              <a:defRPr sz="1600"/>
            </a:pPr>
          </a:p>
          <a:p>
            <a:pPr>
              <a:spcAft>
                <a:spcPts val="1200"/>
              </a:spcAft>
              <a:defRPr sz="1600"/>
            </a:pPr>
            <a:r>
              <a:t>PRODUK SAMPING (By-Products):</a:t>
            </a:r>
          </a:p>
          <a:p>
            <a:pPr>
              <a:spcAft>
                <a:spcPts val="1200"/>
              </a:spcAft>
              <a:defRPr sz="1600"/>
            </a:pPr>
            <a:r>
              <a:t>• Molasses (Tetes): untuk pakan, alkohol, MSG (~4-5% dari tebu)</a:t>
            </a:r>
          </a:p>
          <a:p>
            <a:pPr>
              <a:spcAft>
                <a:spcPts val="1200"/>
              </a:spcAft>
              <a:defRPr sz="1600"/>
            </a:pPr>
            <a:r>
              <a:t>• Bagasse (Ampas): bahan bakar boiler, kertas (~30% dari tebu)</a:t>
            </a:r>
          </a:p>
          <a:p>
            <a:pPr>
              <a:spcAft>
                <a:spcPts val="1200"/>
              </a:spcAft>
              <a:defRPr sz="1600"/>
            </a:pPr>
            <a:r>
              <a:t>• Blotong (Filter Cake): pupuk organik (~3-4% dari tebu)</a:t>
            </a:r>
          </a:p>
          <a:p>
            <a:pPr>
              <a:spcAft>
                <a:spcPts val="1200"/>
              </a:spcAft>
              <a:defRPr sz="1600"/>
            </a:pPr>
            <a:r>
              <a:t>• Listrik: co-generation dari bagasse (~30-50% kebutuhan sendiri)</a:t>
            </a:r>
          </a:p>
          <a:p>
            <a:pPr>
              <a:spcAft>
                <a:spcPts val="1200"/>
              </a:spcAft>
              <a:defRPr sz="1600"/>
            </a:pPr>
            <a:r>
              <a:t>• Revenue tambahan: 15-25% dari penjualan total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Struktur Divisi Pabrik Gula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/>
            </a:pPr>
            <a:r>
              <a:t>1. DIVISI TANAMAN: budidaya tebu, panen, logistik tebu</a:t>
            </a:r>
          </a:p>
          <a:p>
            <a:pPr>
              <a:spcAft>
                <a:spcPts val="1200"/>
              </a:spcAft>
              <a:defRPr sz="1600"/>
            </a:pPr>
            <a:r>
              <a:t>2. DIVISI PABRIKASI: proses produksi gula (24/7 saat musim giling)</a:t>
            </a:r>
          </a:p>
          <a:p>
            <a:pPr>
              <a:spcAft>
                <a:spcPts val="1200"/>
              </a:spcAft>
              <a:defRPr sz="1600"/>
            </a:pPr>
            <a:r>
              <a:t>3. DIVISI INSTALASI: listrik, mesin, boiler, maintenance</a:t>
            </a:r>
          </a:p>
          <a:p>
            <a:pPr>
              <a:spcAft>
                <a:spcPts val="1200"/>
              </a:spcAft>
              <a:defRPr sz="1600"/>
            </a:pPr>
            <a:r>
              <a:t>4. DIVISI AKUNTANSI &amp; KEUANGAN: cash flow, payroll, reporting</a:t>
            </a:r>
          </a:p>
          <a:p>
            <a:pPr>
              <a:spcAft>
                <a:spcPts val="1200"/>
              </a:spcAft>
              <a:defRPr sz="1600"/>
            </a:pPr>
            <a:r>
              <a:t>5. DIVISI SDM &amp; UMUM: rekrutmen, K3, gudang, security</a:t>
            </a:r>
          </a:p>
          <a:p>
            <a:pPr>
              <a:spcAft>
                <a:spcPts val="1200"/>
              </a:spcAft>
              <a:defRPr sz="1600"/>
            </a:pPr>
            <a:r>
              <a:t>6. DIVISI PEMASARAN: sales gula, molasses, distribusi</a:t>
            </a:r>
          </a:p>
          <a:p>
            <a:pPr>
              <a:spcAft>
                <a:spcPts val="1200"/>
              </a:spcAft>
              <a:defRPr sz="1600"/>
            </a:pPr>
            <a:r>
              <a:t>• Operasional 24/7 selama musim giling (shift 3x8 jam)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Key Performance Indicators (KPI)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/>
            </a:pPr>
            <a:r>
              <a:t>1. RENDEMEN: % gula dari tebu → target 8-10%</a:t>
            </a:r>
          </a:p>
          <a:p>
            <a:pPr>
              <a:spcAft>
                <a:spcPts val="1200"/>
              </a:spcAft>
              <a:defRPr sz="1600"/>
            </a:pPr>
            <a:r>
              <a:t>   Formula: (Gula/Tebu) x 100%</a:t>
            </a:r>
          </a:p>
          <a:p>
            <a:pPr>
              <a:spcAft>
                <a:spcPts val="1200"/>
              </a:spcAft>
              <a:defRPr sz="1600"/>
            </a:pPr>
            <a:r>
              <a:t>2. RECOVERY (Pol Extraction): % pol terekstrak → target 92-96%</a:t>
            </a:r>
          </a:p>
          <a:p>
            <a:pPr>
              <a:spcAft>
                <a:spcPts val="1200"/>
              </a:spcAft>
              <a:defRPr sz="1600"/>
            </a:pPr>
            <a:r>
              <a:t>3. KAPASITAS GILING: ton tebu/hari → target 3.000-6.000 TCD</a:t>
            </a:r>
          </a:p>
          <a:p>
            <a:pPr>
              <a:spcAft>
                <a:spcPts val="1200"/>
              </a:spcAft>
              <a:defRPr sz="1600"/>
            </a:pPr>
            <a:r>
              <a:t>4. EFISIENSI PABRIK: % waktu operasi vs downtime → target &gt;85%</a:t>
            </a:r>
          </a:p>
          <a:p>
            <a:pPr>
              <a:spcAft>
                <a:spcPts val="1200"/>
              </a:spcAft>
              <a:defRPr sz="1600"/>
            </a:pPr>
            <a:r>
              <a:t>5. OVERALL RECOVERY: rendemen aktual/rendemen teoritis → &gt;82%</a:t>
            </a:r>
          </a:p>
          <a:p>
            <a:pPr>
              <a:spcAft>
                <a:spcPts val="1200"/>
              </a:spcAft>
              <a:defRPr sz="1600"/>
            </a:pPr>
            <a:r>
              <a:t>6. LOSSES: pol hilang di proses → target &lt;2,5%</a:t>
            </a:r>
          </a:p>
          <a:p>
            <a:pPr>
              <a:spcAft>
                <a:spcPts val="1200"/>
              </a:spcAft>
              <a:defRPr sz="1600"/>
            </a:pPr>
            <a:r>
              <a:t>• Monitoring real-time via dashboard SCADA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Bottleneck Operasional Pabrik Gula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/>
            </a:pPr>
            <a:r>
              <a:t>1. Kualitas tebu rendah: pol &lt;8%, kotoran tinggi → rendemen turun</a:t>
            </a:r>
          </a:p>
          <a:p>
            <a:pPr>
              <a:spcAft>
                <a:spcPts val="1200"/>
              </a:spcAft>
              <a:defRPr sz="1600"/>
            </a:pPr>
            <a:r>
              <a:t>2. Breakdown mesin: gilingan, boiler → stop produksi (loss besar)</a:t>
            </a:r>
          </a:p>
          <a:p>
            <a:pPr>
              <a:spcAft>
                <a:spcPts val="1200"/>
              </a:spcAft>
              <a:defRPr sz="1600"/>
            </a:pPr>
            <a:r>
              <a:t>3. Keterlambatan tebu: antrian panjang → tebu menua, pol turun</a:t>
            </a:r>
          </a:p>
          <a:p>
            <a:pPr>
              <a:spcAft>
                <a:spcPts val="1200"/>
              </a:spcAft>
              <a:defRPr sz="1600"/>
            </a:pPr>
            <a:r>
              <a:t>4. Cuaca buruk: hujan → tebu basah, susah giling</a:t>
            </a:r>
          </a:p>
          <a:p>
            <a:pPr>
              <a:spcAft>
                <a:spcPts val="1200"/>
              </a:spcAft>
              <a:defRPr sz="1600"/>
            </a:pPr>
            <a:r>
              <a:t>5. Kekurangan SDM terampil: operator, teknisi → inefficiency</a:t>
            </a:r>
          </a:p>
          <a:p>
            <a:pPr>
              <a:spcAft>
                <a:spcPts val="1200"/>
              </a:spcAft>
              <a:defRPr sz="1600"/>
            </a:pPr>
            <a:r>
              <a:t>6. Kapasitas terbatas: demand tinggi tapi kapasitas tetap</a:t>
            </a:r>
          </a:p>
          <a:p>
            <a:pPr>
              <a:spcAft>
                <a:spcPts val="1200"/>
              </a:spcAft>
              <a:defRPr sz="1600"/>
            </a:pPr>
            <a:r>
              <a:t>• Mitigasi: preventive maintenance, buffer stock, training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Tantangan Industri Gula Indonesia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/>
            </a:pPr>
            <a:r>
              <a:t>• Produktivitas rendah: rendemen 6-8% vs Thailand 10-12%</a:t>
            </a:r>
          </a:p>
          <a:p>
            <a:pPr>
              <a:spcAft>
                <a:spcPts val="1200"/>
              </a:spcAft>
              <a:defRPr sz="1600"/>
            </a:pPr>
            <a:r>
              <a:t>• Impor tinggi: ±50% kebutuhan nasional dari impor</a:t>
            </a:r>
          </a:p>
          <a:p>
            <a:pPr>
              <a:spcAft>
                <a:spcPts val="1200"/>
              </a:spcAft>
              <a:defRPr sz="1600"/>
            </a:pPr>
            <a:r>
              <a:t>• Biaya produksi tinggi: HPP Rp 9.000-11.000/kg vs harga jual</a:t>
            </a:r>
          </a:p>
          <a:p>
            <a:pPr>
              <a:spcAft>
                <a:spcPts val="1200"/>
              </a:spcAft>
              <a:defRPr sz="1600"/>
            </a:pPr>
            <a:r>
              <a:t>• Teknologi tua: mesin &gt;30 tahun, efisiensi rendah</a:t>
            </a:r>
          </a:p>
          <a:p>
            <a:pPr>
              <a:spcAft>
                <a:spcPts val="1200"/>
              </a:spcAft>
              <a:defRPr sz="1600"/>
            </a:pPr>
            <a:r>
              <a:t>• Persaingan global: gula impor lebih murah</a:t>
            </a:r>
          </a:p>
          <a:p>
            <a:pPr>
              <a:spcAft>
                <a:spcPts val="1200"/>
              </a:spcAft>
              <a:defRPr sz="1600"/>
            </a:pPr>
            <a:r>
              <a:t>• Regulasi: harga gula diatur pemerintah (floor/ceiling price)</a:t>
            </a:r>
          </a:p>
          <a:p>
            <a:pPr>
              <a:spcAft>
                <a:spcPts val="1200"/>
              </a:spcAft>
              <a:defRPr sz="1600"/>
            </a:pPr>
            <a:r>
              <a:t>• Perubahan iklim: musim giling tidak menentu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Peluang Improvement &amp; Modernisasi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/>
            </a:pPr>
            <a:r>
              <a:t>1. DIGITALISASI: IoT sensor, AI untuk optimasi proses</a:t>
            </a:r>
          </a:p>
          <a:p>
            <a:pPr>
              <a:spcAft>
                <a:spcPts val="1200"/>
              </a:spcAft>
              <a:defRPr sz="1600"/>
            </a:pPr>
            <a:r>
              <a:t>2. MODERNISASI MESIN: upgrade gilingan, boiler high-pressure</a:t>
            </a:r>
          </a:p>
          <a:p>
            <a:pPr>
              <a:spcAft>
                <a:spcPts val="1200"/>
              </a:spcAft>
              <a:defRPr sz="1600"/>
            </a:pPr>
            <a:r>
              <a:t>3. CO-GENERATION: jual listrik surplus ke PLN (renewable energy)</a:t>
            </a:r>
          </a:p>
          <a:p>
            <a:pPr>
              <a:spcAft>
                <a:spcPts val="1200"/>
              </a:spcAft>
              <a:defRPr sz="1600"/>
            </a:pPr>
            <a:r>
              <a:t>4. DIVERSIFIKASI PRODUK: bioethanol, refined sugar, gula khusus</a:t>
            </a:r>
          </a:p>
          <a:p>
            <a:pPr>
              <a:spcAft>
                <a:spcPts val="1200"/>
              </a:spcAft>
              <a:defRPr sz="1600"/>
            </a:pPr>
            <a:r>
              <a:t>5. BIOFUEL: bagasse → pellet/biogas</a:t>
            </a:r>
          </a:p>
          <a:p>
            <a:pPr>
              <a:spcAft>
                <a:spcPts val="1200"/>
              </a:spcAft>
              <a:defRPr sz="1600"/>
            </a:pPr>
            <a:r>
              <a:t>6. PRECISION AGRICULTURE: drone, GPS untuk efisiensi kebun</a:t>
            </a:r>
          </a:p>
          <a:p>
            <a:pPr>
              <a:spcAft>
                <a:spcPts val="1200"/>
              </a:spcAft>
              <a:defRPr sz="1600"/>
            </a:pPr>
            <a:r>
              <a:t>7. BACKWARD INTEGRATION: petani mitra → kualitas tebu konsisten</a:t>
            </a:r>
          </a:p>
          <a:p>
            <a:pPr>
              <a:spcAft>
                <a:spcPts val="1200"/>
              </a:spcAft>
              <a:defRPr sz="1600"/>
            </a:pPr>
            <a:r>
              <a:t>• Potensi peningkatan EBITDA: 20-30%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Bagaimana PG Menghasilkan Uang?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/>
            </a:pPr>
            <a:r>
              <a:t>REVENUE STREAMS:</a:t>
            </a:r>
          </a:p>
          <a:p>
            <a:pPr>
              <a:spcAft>
                <a:spcPts val="1200"/>
              </a:spcAft>
              <a:defRPr sz="1600"/>
            </a:pPr>
            <a:r>
              <a:t>• Penjualan gula (70-80%): Rp 12.000-15.000/kg</a:t>
            </a:r>
          </a:p>
          <a:p>
            <a:pPr>
              <a:spcAft>
                <a:spcPts val="1200"/>
              </a:spcAft>
              <a:defRPr sz="1600"/>
            </a:pPr>
            <a:r>
              <a:t>• Molasses (10-15%): Rp 1.500-2.500/kg</a:t>
            </a:r>
          </a:p>
          <a:p>
            <a:pPr>
              <a:spcAft>
                <a:spcPts val="1200"/>
              </a:spcAft>
              <a:defRPr sz="1600"/>
            </a:pPr>
            <a:r>
              <a:t>• Listrik co-gen (5-10%): Rp 1.000-1.200/kWh</a:t>
            </a:r>
          </a:p>
          <a:p>
            <a:pPr>
              <a:spcAft>
                <a:spcPts val="1200"/>
              </a:spcAft>
              <a:defRPr sz="1600"/>
            </a:pPr>
            <a:r>
              <a:t>• Blotong (2-3%): Rp 200-500/kg</a:t>
            </a:r>
          </a:p>
          <a:p>
            <a:pPr>
              <a:spcAft>
                <a:spcPts val="1200"/>
              </a:spcAft>
              <a:defRPr sz="1600"/>
            </a:pPr>
          </a:p>
          <a:p>
            <a:pPr>
              <a:spcAft>
                <a:spcPts val="1200"/>
              </a:spcAft>
              <a:defRPr sz="1600"/>
            </a:pPr>
            <a:r>
              <a:t>COST STRUCTURE:</a:t>
            </a:r>
          </a:p>
          <a:p>
            <a:pPr>
              <a:spcAft>
                <a:spcPts val="1200"/>
              </a:spcAft>
              <a:defRPr sz="1600"/>
            </a:pPr>
            <a:r>
              <a:t>• Bahan baku tebu (50-60%)</a:t>
            </a:r>
          </a:p>
          <a:p>
            <a:pPr>
              <a:spcAft>
                <a:spcPts val="1200"/>
              </a:spcAft>
              <a:defRPr sz="1600"/>
            </a:pPr>
            <a:r>
              <a:t>• Operasional &amp; energi (20-25%)</a:t>
            </a:r>
          </a:p>
          <a:p>
            <a:pPr>
              <a:spcAft>
                <a:spcPts val="1200"/>
              </a:spcAft>
              <a:defRPr sz="1600"/>
            </a:pPr>
            <a:r>
              <a:t>• SDM &amp; overhead (10-15%)</a:t>
            </a:r>
          </a:p>
          <a:p>
            <a:pPr>
              <a:spcAft>
                <a:spcPts val="1200"/>
              </a:spcAft>
              <a:defRPr sz="1600"/>
            </a:pPr>
            <a:r>
              <a:t>• Maintenance (5-8%)</a:t>
            </a:r>
          </a:p>
          <a:p>
            <a:pPr>
              <a:spcAft>
                <a:spcPts val="1200"/>
              </a:spcAft>
              <a:defRPr sz="1600"/>
            </a:pPr>
          </a:p>
          <a:p>
            <a:pPr>
              <a:spcAft>
                <a:spcPts val="1200"/>
              </a:spcAft>
              <a:defRPr sz="1600"/>
            </a:pPr>
            <a:r>
              <a:t>MARGIN: EBITDA 15-25% (kondisi normal)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Apa yang Dimonitor Manajemen?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/>
            </a:pPr>
            <a:r>
              <a:t>DAILY MONITORING:</a:t>
            </a:r>
          </a:p>
          <a:p>
            <a:pPr>
              <a:spcAft>
                <a:spcPts val="1200"/>
              </a:spcAft>
              <a:defRPr sz="1600"/>
            </a:pPr>
            <a:r>
              <a:t>• Kapasitas giling harian (ton tebu/hari)</a:t>
            </a:r>
          </a:p>
          <a:p>
            <a:pPr>
              <a:spcAft>
                <a:spcPts val="1200"/>
              </a:spcAft>
              <a:defRPr sz="1600"/>
            </a:pPr>
            <a:r>
              <a:t>• Rendemen &amp; recovery real-time</a:t>
            </a:r>
          </a:p>
          <a:p>
            <a:pPr>
              <a:spcAft>
                <a:spcPts val="1200"/>
              </a:spcAft>
              <a:defRPr sz="1600"/>
            </a:pPr>
            <a:r>
              <a:t>• Downtime &amp; breakdown analysis</a:t>
            </a:r>
          </a:p>
          <a:p>
            <a:pPr>
              <a:spcAft>
                <a:spcPts val="1200"/>
              </a:spcAft>
              <a:defRPr sz="1600"/>
            </a:pPr>
            <a:r>
              <a:t>• Stok tebu &amp; antrian tebang angkut</a:t>
            </a:r>
          </a:p>
          <a:p>
            <a:pPr>
              <a:spcAft>
                <a:spcPts val="1200"/>
              </a:spcAft>
              <a:defRPr sz="1600"/>
            </a:pPr>
          </a:p>
          <a:p>
            <a:pPr>
              <a:spcAft>
                <a:spcPts val="1200"/>
              </a:spcAft>
              <a:defRPr sz="1600"/>
            </a:pPr>
            <a:r>
              <a:t>WEEKLY/MONTHLY MONITORING:</a:t>
            </a:r>
          </a:p>
          <a:p>
            <a:pPr>
              <a:spcAft>
                <a:spcPts val="1200"/>
              </a:spcAft>
              <a:defRPr sz="1600"/>
            </a:pPr>
            <a:r>
              <a:t>• Cash flow &amp; working capital</a:t>
            </a:r>
          </a:p>
          <a:p>
            <a:pPr>
              <a:spcAft>
                <a:spcPts val="1200"/>
              </a:spcAft>
              <a:defRPr sz="1600"/>
            </a:pPr>
            <a:r>
              <a:t>• Penjualan gula &amp; piutang</a:t>
            </a:r>
          </a:p>
          <a:p>
            <a:pPr>
              <a:spcAft>
                <a:spcPts val="1200"/>
              </a:spcAft>
              <a:defRPr sz="1600"/>
            </a:pPr>
            <a:r>
              <a:t>• HPP (Harga Pokok Produksi)</a:t>
            </a:r>
          </a:p>
          <a:p>
            <a:pPr>
              <a:spcAft>
                <a:spcPts val="1200"/>
              </a:spcAft>
              <a:defRPr sz="1600"/>
            </a:pPr>
            <a:r>
              <a:t>• Safety incident &amp; K3 compliance</a:t>
            </a:r>
          </a:p>
          <a:p>
            <a:pPr>
              <a:spcAft>
                <a:spcPts val="1200"/>
              </a:spcAft>
              <a:defRPr sz="1600"/>
            </a:pPr>
            <a:r>
              <a:t>• Target vs actual production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Kesimpulan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/>
            </a:pPr>
            <a:r>
              <a:t>• Pabrik gula = bisnis padat modal, padat karya, musiman</a:t>
            </a:r>
          </a:p>
          <a:p>
            <a:pPr>
              <a:spcAft>
                <a:spcPts val="1200"/>
              </a:spcAft>
              <a:defRPr sz="1600"/>
            </a:pPr>
            <a:r>
              <a:t>• Proses produksi: 9 tahapan utama (24-48 jam tebu → gula)</a:t>
            </a:r>
          </a:p>
          <a:p>
            <a:pPr>
              <a:spcAft>
                <a:spcPts val="1200"/>
              </a:spcAft>
              <a:defRPr sz="1600"/>
            </a:pPr>
            <a:r>
              <a:t>• Value creation: gula + 4 produk samping (circular economy)</a:t>
            </a:r>
          </a:p>
          <a:p>
            <a:pPr>
              <a:spcAft>
                <a:spcPts val="1200"/>
              </a:spcAft>
              <a:defRPr sz="1600"/>
            </a:pPr>
            <a:r>
              <a:t>• Profitabilitas tergantung: rendemen, harga jual, efisiensi</a:t>
            </a:r>
          </a:p>
          <a:p>
            <a:pPr>
              <a:spcAft>
                <a:spcPts val="1200"/>
              </a:spcAft>
              <a:defRPr sz="1600"/>
            </a:pPr>
            <a:r>
              <a:t>• Tantangan besar: produktivitas, impor, teknologi</a:t>
            </a:r>
          </a:p>
          <a:p>
            <a:pPr>
              <a:spcAft>
                <a:spcPts val="1200"/>
              </a:spcAft>
              <a:defRPr sz="1600"/>
            </a:pPr>
            <a:r>
              <a:t>• Peluang: modernisasi, digitalisasi, diversifikasi produk</a:t>
            </a:r>
          </a:p>
          <a:p>
            <a:pPr>
              <a:spcAft>
                <a:spcPts val="1200"/>
              </a:spcAft>
              <a:defRPr sz="1600"/>
            </a:pPr>
            <a:r>
              <a:t>• KPI kritis: rendemen, recovery, kapasitas giling, losses</a:t>
            </a:r>
          </a:p>
          <a:p>
            <a:pPr>
              <a:spcAft>
                <a:spcPts val="1200"/>
              </a:spcAft>
              <a:defRPr sz="1600"/>
            </a:pPr>
            <a:r>
              <a:t>• Industri strategis: ketahanan pangan, lapangan kerja, devisa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</a:defRPr>
            </a:pPr>
            <a:r>
              <a:t>TERIMA KASIH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95959"/>
                </a:solidFill>
              </a:defRPr>
            </a:pPr>
            <a:r>
              <a:t>Pertanyaan?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