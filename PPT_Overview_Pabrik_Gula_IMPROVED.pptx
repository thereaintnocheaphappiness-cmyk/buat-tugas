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OVERVIEW ALUR BISNIS PABRIK GULA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Dari Kebun hingga Distribusi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Gambaran Industri Gula Indonesia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🏭 Indonesia: produsen gula terbesar ke-10 dunia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📊 Produksi nasional: ±2,2 juta ton/tahun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📈 Kebutuhan nasional: ±5-6 juta ton/tahun (impor ±50%)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🏢 Pabrik gula aktif: ±60 unit (BUMN, swasta, rakyat)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📅 Musim giling: April - November (±6-7 bulan)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💼 Kontribusi: lapangan kerja, devisa, komoditas strategis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Value Chain Industri Gula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📍 UPSTREAM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Budidaya tebu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Perkebunan sendiri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Petani mitra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📍 MIDSTREAM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Pabrik gula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Pengolahan tebu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Produksi kristal gula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📍 DOWNSTREAM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Distribusi &amp; penjualan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Retail &amp; industri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Ekspor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📍 BY-PRODUCTS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Molasses (tetes)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Bagasse (listrik)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Blotong (pupuk)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Alur Bisnis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🌾 KEBUN → Tebu dipanen (manual/mekanis) → Transportasi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🏭 PABRIK → Proses produksi 12-24 jam non-stop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📦 OUTPUT → Gula kristal + produk samping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🚚 DISTRIBUSI → Gudang → Pasar/Industri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⏱️  Lead time: Tebu tebang s/d jadi gula = 24-48 jam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🎯 Target: Rendemen 8-10% (100 ton tebu → 8-10 ton gula)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Proses Produksi: 9 Tahapan Utama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645920" cy="731520"/>
          </a:xfrm>
          <a:prstGeom prst="roundRect">
            <a:avLst/>
          </a:prstGeom>
          <a:solidFill>
            <a:srgbClr val="2980B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Penerimaan</a:t>
            </a:r>
          </a:p>
          <a:p>
            <a:r>
              <a:t>Tebu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48840" y="2057400"/>
            <a:ext cx="182880" cy="274320"/>
          </a:xfrm>
          <a:prstGeom prst="right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77440" y="1828800"/>
            <a:ext cx="1645920" cy="73152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Cane</a:t>
            </a:r>
          </a:p>
          <a:p>
            <a:r>
              <a:t>Handling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69080" y="2057400"/>
            <a:ext cx="182880" cy="274320"/>
          </a:xfrm>
          <a:prstGeom prst="right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1645920" cy="731520"/>
          </a:xfrm>
          <a:prstGeom prst="roundRect">
            <a:avLst/>
          </a:prstGeom>
          <a:solidFill>
            <a:srgbClr val="1ABC9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Milling</a:t>
            </a:r>
          </a:p>
          <a:p>
            <a:r>
              <a:t>(Giling)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89320" y="2057400"/>
            <a:ext cx="182880" cy="274320"/>
          </a:xfrm>
          <a:prstGeom prst="right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1645920" cy="73152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Clarification</a:t>
            </a:r>
          </a:p>
          <a:p>
            <a:r>
              <a:t>(Jernihkan)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1645920" cy="731520"/>
          </a:xfrm>
          <a:prstGeom prst="roundRect">
            <a:avLst/>
          </a:prstGeom>
          <a:solidFill>
            <a:srgbClr val="F1C40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5. Evaporation</a:t>
            </a:r>
          </a:p>
          <a:p>
            <a:r>
              <a:t>(Uapkan)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48840" y="3429000"/>
            <a:ext cx="182880" cy="274320"/>
          </a:xfrm>
          <a:prstGeom prst="right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77440" y="3200400"/>
            <a:ext cx="1645920" cy="731520"/>
          </a:xfrm>
          <a:prstGeom prst="roundRect">
            <a:avLst/>
          </a:prstGeom>
          <a:solidFill>
            <a:srgbClr val="2980B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6. Crystallization</a:t>
            </a:r>
          </a:p>
          <a:p>
            <a:r>
              <a:t>(Kristal)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69080" y="3429000"/>
            <a:ext cx="182880" cy="274320"/>
          </a:xfrm>
          <a:prstGeom prst="right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3200400"/>
            <a:ext cx="1645920" cy="73152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7. Centrifugation</a:t>
            </a:r>
          </a:p>
          <a:p>
            <a:r>
              <a:t>(Pisahkan)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89320" y="3429000"/>
            <a:ext cx="182880" cy="274320"/>
          </a:xfrm>
          <a:prstGeom prst="right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3200400"/>
            <a:ext cx="1645920" cy="731520"/>
          </a:xfrm>
          <a:prstGeom prst="roundRect">
            <a:avLst/>
          </a:prstGeom>
          <a:solidFill>
            <a:srgbClr val="1ABC9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8. Drying &amp;</a:t>
            </a:r>
          </a:p>
          <a:p>
            <a:r>
              <a:t>Cooling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645920" cy="73152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9. Packaging</a:t>
            </a:r>
          </a:p>
          <a:p>
            <a:r>
              <a:t>&amp;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Detail Proses (1/3): Penerimaan - Clarification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1️⃣ PENERIMAAN TEBU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Timbangan &amp; sampling kualitas (pol, brix)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2️⃣ CANE HANDLING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Unloading, conveyor, cane preparation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3️⃣ MILLING (Penggilingan)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4-7 unit gilingan | Ekstraksi pol: 92-96%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Output: nira mentah + ampas (bagasse)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4️⃣ CLARIFICATION (Pemurnian)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Heating, sulfitasi, defekasi (tambah kapur)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Output: nira jernih + blotong (filter cake)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Detail Proses (2/3): Evaporation - Crystallization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5️⃣ EVAPORATION (Penguapan)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Nira jernih → nira kental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Multiple effect evaporator (4-5 badan)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Brix naik: 12-15% → 60-65%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Hemat energi dengan sistem multi-effect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6️⃣ CRYSTALLIZATION (Masakan)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Nira kental → kristal gula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Vacuum pan A, C, D (3 tingkat masakan)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Brix naik: 65% → 92-94%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Output: massecuite (campuran kristal + stroop)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Detail Proses (3/3): Centrifuge -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7️⃣ CENTRIFUGATION (Pemisahan)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Pisahkan kristal &amp; molasses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Putaran centrifuge: 1000-1500 RPM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Output: gula kristal (SHS) + tetes (molasses)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8️⃣ DRYING &amp; COOLING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Keringkan gula kristal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Kadar air turun: 2-3% → 0,5%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Suhu turun: 65°C → 35-40°C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9️⃣ PACKAGING &amp; STORAGE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   • Karung 50kg / bulk | Gudang | Distribusi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Produk Utama dan Produk Samping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📦 PRODUK UTAMA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🍬 Gula SHS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(Superior High Sugar)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• Pol ≥99,3%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• ICUMSA 150-600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• 8-10 ton per 100 ton tebu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💰 Revenue: 70-80%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♻️  PRODUK SAMPING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🍯 Molasses: 4-5 ton (10-15%)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→ Pakan, alkohol, MSG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⚡ Bagasse: 30 ton (5-10%)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→ Listrik co-generation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🌱 Blotong: 3-4 ton (2-3%)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→ Pupuk organik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💰 Total By-products: 15-25%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Struktur Divisi Pabrik Gula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1️⃣ DIVISI TANAMAN: Budidaya tebu, panen, logistik tebu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2️⃣ DIVISI PABRIKASI: Proses produksi gula (shift 24/7)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3️⃣ DIVISI INSTALASI: Listrik, mesin, boiler, maintenance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4️⃣ DIVISI KEUANGAN: Cash flow, payroll, reporting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5️⃣ DIVISI SDM &amp; UMUM: Rekrutmen, K3, gudang, security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6️⃣ DIVISI PEMASARAN: Sales gula, molasses, distribusi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⏰ Operasional 24/7 selama musim giling (shift 3x8 jam)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Performance Indicators (KPI)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828800" cy="1097280"/>
          </a:xfrm>
          <a:prstGeom prst="roundRect">
            <a:avLst/>
          </a:prstGeom>
          <a:solidFill>
            <a:srgbClr val="E74C3C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RENDEMEN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8-10%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1828800" cy="1097280"/>
          </a:xfrm>
          <a:prstGeom prst="roundRect">
            <a:avLst/>
          </a:prstGeom>
          <a:solidFill>
            <a:srgbClr val="3498D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830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92-96%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45920"/>
            <a:ext cx="1828800" cy="1097280"/>
          </a:xfrm>
          <a:prstGeom prst="roundRect">
            <a:avLst/>
          </a:prstGeom>
          <a:solidFill>
            <a:srgbClr val="2ECC71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7830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KAPASITAS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031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3K-6K TCD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645920"/>
            <a:ext cx="1828800" cy="1097280"/>
          </a:xfrm>
          <a:prstGeom prst="roundRect">
            <a:avLst/>
          </a:prstGeom>
          <a:solidFill>
            <a:srgbClr val="F1C40F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7830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1031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&lt;2,5%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1828800" cy="1097280"/>
          </a:xfrm>
          <a:prstGeom prst="roundRect">
            <a:avLst/>
          </a:prstGeom>
          <a:solidFill>
            <a:srgbClr val="E74C3C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EFISIENSI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747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&gt;85%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3017520"/>
            <a:ext cx="1828800" cy="1097280"/>
          </a:xfrm>
          <a:prstGeom prst="roundRect">
            <a:avLst/>
          </a:prstGeom>
          <a:solidFill>
            <a:srgbClr val="3498D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1546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OVERALL</a:t>
            </a:r>
          </a:p>
          <a:p>
            <a: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4747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&gt;82%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📊 Monitoring Real-Time via Dashboard SCADA</a:t>
            </a:r>
          </a:p>
          <a:p/>
          <a:p>
            <a:r>
              <a:t>• Rendemen = (Gula/Tebu) x 100% → Indikator efisiensi total</a:t>
            </a:r>
          </a:p>
          <a:p>
            <a:r>
              <a:t>• Recovery = % pol yang berhasil diekstrak dari tebu</a:t>
            </a:r>
          </a:p>
          <a:p>
            <a:r>
              <a:t>• Kapasitas = Ton Cane per Day (TCD) → Throughput produksi</a:t>
            </a:r>
          </a:p>
          <a:p>
            <a:r>
              <a:t>• Losses = Pol yang hilang selama proses (target minimal)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Bottleneck Operasional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⚠️  BOTTLENECK UTAMA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❌ Kualitas tebu rendah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→ Pol &lt;8%, kotoran tinggi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→ Rendemen turun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❌ Breakdown mesin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→ Gilingan, boiler rusak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→ Stop produksi (loss besar)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❌ Keterlambatan tebu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→ Antrian panjang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→ Tebu menua, pol turun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❌ Cuaca buruk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→ Hujan, tebu basah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→ Susah giling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❌ SDM kurang terampil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→ Operator, teknisi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→ Inefficiency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❌ Kapasitas terbatas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→ Demand tinggi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→ Kapasitas tetap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✅ Mitigasi: Preventive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maintenance &amp; 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Tantangan Industri Gula Indonesia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📉 Produktivitas rendah: Rendemen 6-8% vs Thailand 10-12%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📥 Impor tinggi: ±50% kebutuhan nasional dari impor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💸 Biaya produksi tinggi: HPP Rp 9.000-11.000/kg vs harga jual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⚙️  Teknologi tua: Mesin &gt;30 tahun, efisiensi rendah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🌍 Persaingan global: Gula impor lebih murah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📜 Regulasi: Harga gula diatur pemerintah (floor/ceiling price)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🌦️  Perubahan iklim: Musim giling tidak menentu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Peluang Improvement &amp; Modernisasi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💡 PELUANG UTAMA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1️⃣ DIGITALISASI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• IoT sensor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• AI optimasi proses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2️⃣ MODERNISASI MESIN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• Upgrade gilingan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• Boiler high-pressure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3️⃣ CO-GENERATION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• Jual listrik surplus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• Renewable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4️⃣ DIVERSIFIKASI PRODUK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• Bioethanol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• Refined sugar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• Gula khusus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5️⃣ PRECISION AGRICULTURE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• Drone mapping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• GPS tracking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6️⃣ BACKWARD INTEGRATION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• Petani mitra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• Kualitas konsisten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📈 Potensi: +20-30% EBITDA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Model Bisnis: Bagaimana PG Menghasilkan Uang?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💰 REVENUE STREAMS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🍬 Gula (70-80%)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Rp 12.000-15.000/kg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🍯 Molasses (10-15%)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Rp 1.500-2.500/kg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⚡ Listrik co-gen (5-10%)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Rp 1.000-1.200/kWh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🌱 Blotong (2-3%)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Rp 200-500/kg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💸 COST STRUCTURE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🌾 Bahan baku tebu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50-60%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⚙️  Operasional &amp; energi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20-25%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👥 SDM &amp; overhead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10-15%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🔧 Maintenance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5-8%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📊 MARGIN EBITDA: 15-25%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Apa yang Dimonitor Manajemen?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📅 MONITORING HARIAN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Kapasitas giling harian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(ton tebu/hari)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Rendemen &amp; recovery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real-time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Downtime &amp; breakdown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analysis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Stok tebu &amp; antrian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tebang angkut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📊 MONITORING MINGGUAN/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  BULANAN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Cash flow &amp; working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capital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Penjualan gula &amp; piutang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HPP (Harga Pokok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Produksi)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Safety incident &amp; K3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Target vs actual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production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✅ Pabrik gula = bisnis padat modal, padat karya, musiman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✅ Proses produksi: 9 tahapan (24-48 jam tebu → gula)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✅ Value creation: gula + 4 produk samping (circular economy)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✅ Profitabilitas: rendemen, harga jual, efisiensi operasional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✅ Tantangan: produktivitas, impor, teknologi tua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✅ Peluang: modernisasi, digitalisasi, diversifikasi produk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✅ KPI kritis: rendemen, recovery, kapasitas giling, losses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✅ Industri strategis: ketahanan pangan, lapangan kerja, devisa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Pertanyaan?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