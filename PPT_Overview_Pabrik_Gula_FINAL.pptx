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Buka dengan menyapa atasan. Sampaikan tujuan: memberikan big picture alur bisnis pabrik gula dari hulu ke hilir, KPI utama, tantangan, dan peluang. Durasi 15-20 menit, terbuka untuk diskusi.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Ringkas agenda: industri, value chain, proses, produk, divisi &amp; KPI, lalu tantangan &amp; peluang. Tegaskan fokus ke big picture, bukan detail teknis.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Pesan utama: industri gula penting tapi punya gap antara produksi dan konsumsi. ~50% impor adalah pain point yang sering dibahas pemerintah. Sebut PTPN sebagai pemain BUMN dominan.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Tekankan bahwa pabrik gula adalah bisnis terintegrasi: dari kebun, proses, distribusi, hingga by-product. By-product itu BUKAN sampah, tapi revenue stream tambahan.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Visualisasikan timeline. Tekankan window 24-48 jam yang kritikal — kenapa pabrik beroperasi 24/7. Sebut konversi 100 ton tebu menjadi 8-10 ton gula sebagai patokan rendemen.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Tunjukkan 9 tahapan dengan gerakan tangan kiri ke kanan. Yang paling penting: milling (ekstraksi nira), clarification (pemurnian), dan crystallization (bentuk kristal). Sisanya adalah finishing.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Gunakan tabel ini untuk menjawab pertanyaan teknis. Inti: tiap tahap mengubah bentuk fisik nira sampai jadi kristal gula. Losses harus dijaga &lt; 2,5%.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Pesan utama: by-product BUKAN limbah. Total kontribusi 15-25% revenue. Bagasse jadi bahan bakar boiler bahkan listrik yang dijual ke PLN. Blotong jadi pupuk balik ke kebun.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 divisi ini ibaratnya 6 'pilar' pabrik. Yang paling besar tim-nya: Tanaman dan Pabrikasi. Tekankan bahwa operasi musiman — off-season fokus ke overhaul.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Hafal 4 KPI ini: Rendemen, Recovery, Kapasitas, Losses. Rendemen adalah KPI paling sering ditanya manajemen. Kalau ditanya yang paling penting, jawab Rendemen.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 bottleneck operasional. Yang paling sering muncul di lapangan: kualitas tebu dan breakdown mesin. Setiap atasan akan tanya: 'mitigasinya apa?' — jawaban sudah ada di kolom kanan.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 tantangan utama. Yang paling sering jadi headline: produktivitas rendah &amp; impor tinggi. Kalau atasan tanya 'kenapa kita impor?', jawabannya gabungan dari produktivitas + kapasitas terbatas + biaya tinggi.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peluang improvement. Yang paling realistis quick-win: digitalisasi (relatif murah) dan co-generation (kalau pabrik sudah punya boiler bagus). Modernisasi mesin investasi besar tapi ROI-nya jelas.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Pesan utama: pabrik gula hidup dari 'gula + by-product'. Kalau cuma gula tanpa by-product, margin tipis. Bahan baku tebu = 55% dari biaya — itu kenapa kontrak petani sangat strategis.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layer monitoring: harian (operator), mingguan (supervisor &amp; manager), bulanan (direksi). Atasan kamu kemungkinan paling sering tanya yang harian + mingguan.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Closing: ulang 5 takeaways. Tutup dengan ucapan terima kasih dan undangan diskusi. Tunjukkan antusiasme untuk belajar lebih lanjut.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7772400" y="0"/>
            <a:ext cx="4416552" cy="6858000"/>
          </a:xfrm>
          <a:prstGeom prst="rtTriangle">
            <a:avLst/>
          </a:prstGeom>
          <a:solidFill>
            <a:srgbClr val="008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37160" cy="2286000"/>
          </a:xfrm>
          <a:prstGeom prst="rect">
            <a:avLst/>
          </a:prstGeom>
          <a:solidFill>
            <a:srgbClr val="E8A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E8A81C"/>
                </a:solidFill>
                <a:latin typeface="Calibri"/>
              </a:defRPr>
            </a:pPr>
            <a:r>
              <a:t>PRESENTASI INTERNAL  •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822960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Overview Alur Bisnis</a:t>
            </a:r>
          </a:p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Pabrik Gula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206240"/>
            <a:ext cx="8229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000" b="0">
                <a:solidFill>
                  <a:srgbClr val="CFE2EA"/>
                </a:solidFill>
                <a:latin typeface="Calibri"/>
              </a:defRPr>
            </a:pPr>
            <a:r>
              <a:t>Dari Kebun, Pabrik, hingga Distribusi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94360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00" b="0">
                <a:solidFill>
                  <a:srgbClr val="B0C4D0"/>
                </a:solidFill>
                <a:latin typeface="Calibri"/>
              </a:defRPr>
            </a:pPr>
            <a:r>
              <a:t>Disusun untuk kebutuhan pemahaman bisnis pabrik gula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91695" cy="45720"/>
          </a:xfrm>
          <a:prstGeom prst="rect">
            <a:avLst/>
          </a:prstGeom>
          <a:solidFill>
            <a:srgbClr val="E8A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"/>
            <a:ext cx="11887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2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47688"/>
            <a:ext cx="109728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900" b="0">
                <a:solidFill>
                  <a:srgbClr val="555B6E"/>
                </a:solidFill>
                <a:latin typeface="Calibri"/>
              </a:defRPr>
            </a:pPr>
            <a:r>
              <a:t>Overview Alur Bisnis Pabrik Gula  |  Internal 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365760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08760"/>
            <a:ext cx="1371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3600" b="1">
                <a:solidFill>
                  <a:srgbClr val="008C99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8600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800" b="1">
                <a:solidFill>
                  <a:srgbClr val="0B2A4A"/>
                </a:solidFill>
                <a:latin typeface="Calibri"/>
              </a:defRPr>
            </a:pPr>
            <a:r>
              <a:t>Industri Gula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88920"/>
            <a:ext cx="31089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555B6E"/>
                </a:solidFill>
                <a:latin typeface="Calibri"/>
              </a:defRPr>
            </a:pPr>
            <a:r>
              <a:t>Posisi &amp; angka kunci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280160"/>
            <a:ext cx="365760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1508760"/>
            <a:ext cx="1371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3600" b="1">
                <a:solidFill>
                  <a:srgbClr val="008C99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28600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800" b="1">
                <a:solidFill>
                  <a:srgbClr val="0B2A4A"/>
                </a:solidFill>
                <a:latin typeface="Calibri"/>
              </a:defRPr>
            </a:pPr>
            <a:r>
              <a:t>Value Chain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788920"/>
            <a:ext cx="31089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555B6E"/>
                </a:solidFill>
                <a:latin typeface="Calibri"/>
              </a:defRPr>
            </a:pPr>
            <a:r>
              <a:t>Hulu ke hilir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280160"/>
            <a:ext cx="365760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508760"/>
            <a:ext cx="1371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3600" b="1">
                <a:solidFill>
                  <a:srgbClr val="008C99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28600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800" b="1">
                <a:solidFill>
                  <a:srgbClr val="0B2A4A"/>
                </a:solidFill>
                <a:latin typeface="Calibri"/>
              </a:defRPr>
            </a:pPr>
            <a:r>
              <a:t>Proses Produksi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788920"/>
            <a:ext cx="31089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555B6E"/>
                </a:solidFill>
                <a:latin typeface="Calibri"/>
              </a:defRPr>
            </a:pPr>
            <a:r>
              <a:t>9 tahapan utama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886200"/>
            <a:ext cx="365760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114800"/>
            <a:ext cx="1371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3600" b="1">
                <a:solidFill>
                  <a:srgbClr val="008C99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89204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800" b="1">
                <a:solidFill>
                  <a:srgbClr val="0B2A4A"/>
                </a:solidFill>
                <a:latin typeface="Calibri"/>
              </a:defRPr>
            </a:pPr>
            <a:r>
              <a:t>Produk &amp; By-product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394960"/>
            <a:ext cx="31089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555B6E"/>
                </a:solidFill>
                <a:latin typeface="Calibri"/>
              </a:defRPr>
            </a:pPr>
            <a:r>
              <a:t>Gula + 4 turunan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886200"/>
            <a:ext cx="365760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4114800"/>
            <a:ext cx="1371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3600" b="1">
                <a:solidFill>
                  <a:srgbClr val="008C99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489204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800" b="1">
                <a:solidFill>
                  <a:srgbClr val="0B2A4A"/>
                </a:solidFill>
                <a:latin typeface="Calibri"/>
              </a:defRPr>
            </a:pPr>
            <a:r>
              <a:t>Divisi &amp; KPI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5394960"/>
            <a:ext cx="31089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555B6E"/>
                </a:solidFill>
                <a:latin typeface="Calibri"/>
              </a:defRPr>
            </a:pPr>
            <a:r>
              <a:t>Organisasi &amp; ukuran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3886200"/>
            <a:ext cx="365760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0" y="4114800"/>
            <a:ext cx="1371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3600" b="1">
                <a:solidFill>
                  <a:srgbClr val="008C99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489204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800" b="1">
                <a:solidFill>
                  <a:srgbClr val="0B2A4A"/>
                </a:solidFill>
                <a:latin typeface="Calibri"/>
              </a:defRPr>
            </a:pPr>
            <a:r>
              <a:t>Tantangan &amp; Peluang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5394960"/>
            <a:ext cx="31089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555B6E"/>
                </a:solidFill>
                <a:latin typeface="Calibri"/>
              </a:defRPr>
            </a:pPr>
            <a:r>
              <a:t>Bottleneck &amp;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91695" cy="45720"/>
          </a:xfrm>
          <a:prstGeom prst="rect">
            <a:avLst/>
          </a:prstGeom>
          <a:solidFill>
            <a:srgbClr val="E8A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Industri Gula Indonesia: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"/>
            <a:ext cx="11887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3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47688"/>
            <a:ext cx="109728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900" b="0">
                <a:solidFill>
                  <a:srgbClr val="555B6E"/>
                </a:solidFill>
                <a:latin typeface="Calibri"/>
              </a:defRPr>
            </a:pPr>
            <a:r>
              <a:t>Overview Alur Bisnis Pabrik Gula  |  Internal 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914400"/>
            <a:ext cx="2926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914400"/>
            <a:ext cx="164592" cy="1508760"/>
          </a:xfrm>
          <a:prstGeom prst="rect">
            <a:avLst/>
          </a:prstGeom>
          <a:solidFill>
            <a:srgbClr val="008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097280"/>
            <a:ext cx="24688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600" b="1">
                <a:solidFill>
                  <a:srgbClr val="0B2A4A"/>
                </a:solidFill>
                <a:latin typeface="Calibri"/>
              </a:defRPr>
            </a:pPr>
            <a:r>
              <a:t>~2,2 jt ton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83080"/>
            <a:ext cx="24688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555B6E"/>
                </a:solidFill>
                <a:latin typeface="Calibri"/>
              </a:defRPr>
            </a:pPr>
            <a:r>
              <a:t>Produksi nasional/tahun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914400"/>
            <a:ext cx="2926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0" y="914400"/>
            <a:ext cx="164592" cy="1508760"/>
          </a:xfrm>
          <a:prstGeom prst="rect">
            <a:avLst/>
          </a:prstGeom>
          <a:solidFill>
            <a:srgbClr val="E8A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60" y="1097280"/>
            <a:ext cx="24688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600" b="1">
                <a:solidFill>
                  <a:srgbClr val="0B2A4A"/>
                </a:solidFill>
                <a:latin typeface="Calibri"/>
              </a:defRPr>
            </a:pPr>
            <a:r>
              <a:t>~5-6 jt ton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1783080"/>
            <a:ext cx="24688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555B6E"/>
                </a:solidFill>
                <a:latin typeface="Calibri"/>
              </a:defRPr>
            </a:pPr>
            <a:r>
              <a:t>Konsumsi nasional/tahun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606040"/>
            <a:ext cx="2926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2606040"/>
            <a:ext cx="164592" cy="1508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788920"/>
            <a:ext cx="24688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600" b="1">
                <a:solidFill>
                  <a:srgbClr val="0B2A4A"/>
                </a:solidFill>
                <a:latin typeface="Calibri"/>
              </a:defRPr>
            </a:pPr>
            <a:r>
              <a:t>~50%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474720"/>
            <a:ext cx="24688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555B6E"/>
                </a:solidFill>
                <a:latin typeface="Calibri"/>
              </a:defRPr>
            </a:pPr>
            <a:r>
              <a:t>Ketergantungan impor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2606040"/>
            <a:ext cx="2926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74720" y="2606040"/>
            <a:ext cx="164592" cy="150876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94760" y="2788920"/>
            <a:ext cx="24688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600" b="1">
                <a:solidFill>
                  <a:srgbClr val="0B2A4A"/>
                </a:solidFill>
                <a:latin typeface="Calibri"/>
              </a:defRPr>
            </a:pPr>
            <a:r>
              <a:t>~60 PG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74720"/>
            <a:ext cx="24688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555B6E"/>
                </a:solidFill>
                <a:latin typeface="Calibri"/>
              </a:defRPr>
            </a:pPr>
            <a:r>
              <a:t>Pabrik gula aktif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66560" y="914400"/>
            <a:ext cx="5029200" cy="5029200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105156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800" b="1">
                <a:solidFill>
                  <a:srgbClr val="0B2A4A"/>
                </a:solidFill>
                <a:latin typeface="Calibri"/>
              </a:defRPr>
            </a:pPr>
            <a:r>
              <a:t>Konteks Strategis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1691640"/>
            <a:ext cx="274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600" b="1">
                <a:solidFill>
                  <a:srgbClr val="008C9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1691640"/>
            <a:ext cx="42062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300" b="0">
                <a:solidFill>
                  <a:srgbClr val="1F2A3D"/>
                </a:solidFill>
                <a:latin typeface="Calibri"/>
              </a:defRPr>
            </a:pPr>
            <a:r>
              <a:t>Indonesia: produsen ke-10 dunia, konsumen besar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2286000"/>
            <a:ext cx="274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600" b="1">
                <a:solidFill>
                  <a:srgbClr val="008C9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2286000"/>
            <a:ext cx="42062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300" b="0">
                <a:solidFill>
                  <a:srgbClr val="1F2A3D"/>
                </a:solidFill>
                <a:latin typeface="Calibri"/>
              </a:defRPr>
            </a:pPr>
            <a:r>
              <a:t>Musim giling: April – November (6–7 bulan)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2880360"/>
            <a:ext cx="274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600" b="1">
                <a:solidFill>
                  <a:srgbClr val="008C9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2880360"/>
            <a:ext cx="42062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300" b="0">
                <a:solidFill>
                  <a:srgbClr val="1F2A3D"/>
                </a:solidFill>
                <a:latin typeface="Calibri"/>
              </a:defRPr>
            </a:pPr>
            <a:r>
              <a:t>Pemain: PTPN (BUMN), swasta, gula rakyat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3474720"/>
            <a:ext cx="274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600" b="1">
                <a:solidFill>
                  <a:srgbClr val="008C9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3474720"/>
            <a:ext cx="42062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300" b="0">
                <a:solidFill>
                  <a:srgbClr val="1F2A3D"/>
                </a:solidFill>
                <a:latin typeface="Calibri"/>
              </a:defRPr>
            </a:pPr>
            <a:r>
              <a:t>Kompetitor: Thailand, Brasil, India, Australia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4069080"/>
            <a:ext cx="274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600" b="1">
                <a:solidFill>
                  <a:srgbClr val="008C9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4069080"/>
            <a:ext cx="42062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300" b="0">
                <a:solidFill>
                  <a:srgbClr val="1F2A3D"/>
                </a:solidFill>
                <a:latin typeface="Calibri"/>
              </a:defRPr>
            </a:pPr>
            <a:r>
              <a:t>Komoditas strategis: pangan, devisa, lapangan kerja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4663440"/>
            <a:ext cx="274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600" b="1">
                <a:solidFill>
                  <a:srgbClr val="008C9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4663440"/>
            <a:ext cx="42062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300" b="0">
                <a:solidFill>
                  <a:srgbClr val="1F2A3D"/>
                </a:solidFill>
                <a:latin typeface="Calibri"/>
              </a:defRPr>
            </a:pPr>
            <a:r>
              <a:t>Lahan tebu nasional: ±450 ribu hektar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91695" cy="45720"/>
          </a:xfrm>
          <a:prstGeom prst="rect">
            <a:avLst/>
          </a:prstGeom>
          <a:solidFill>
            <a:srgbClr val="E8A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Value Chain Industri Gula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"/>
            <a:ext cx="11887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4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47688"/>
            <a:ext cx="109728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900" b="0">
                <a:solidFill>
                  <a:srgbClr val="555B6E"/>
                </a:solidFill>
                <a:latin typeface="Calibri"/>
              </a:defRPr>
            </a:pPr>
            <a:r>
              <a:t>Overview Alur Bisnis Pabrik Gula  |  Internal Use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2560320" cy="5029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25603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HULU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91640"/>
            <a:ext cx="2560320" cy="3337560"/>
          </a:xfrm>
          <a:prstGeom prst="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874520"/>
            <a:ext cx="21031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800" b="1">
                <a:solidFill>
                  <a:srgbClr val="0B2A4A"/>
                </a:solidFill>
                <a:latin typeface="Calibri"/>
              </a:defRPr>
            </a:pPr>
            <a:r>
              <a:t>Kebun &amp; Tebu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670048"/>
            <a:ext cx="164592" cy="164592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560320"/>
            <a:ext cx="1920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300" b="0">
                <a:solidFill>
                  <a:srgbClr val="1F2A3D"/>
                </a:solidFill>
                <a:latin typeface="Calibri"/>
              </a:defRPr>
            </a:pPr>
            <a:r>
              <a:t>Bibit &amp; lahan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310128"/>
            <a:ext cx="164592" cy="164592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200400"/>
            <a:ext cx="1920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300" b="0">
                <a:solidFill>
                  <a:srgbClr val="1F2A3D"/>
                </a:solidFill>
                <a:latin typeface="Calibri"/>
              </a:defRPr>
            </a:pPr>
            <a:r>
              <a:t>Tanam &amp; rawat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950208"/>
            <a:ext cx="164592" cy="164592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840480"/>
            <a:ext cx="1920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300" b="0">
                <a:solidFill>
                  <a:srgbClr val="1F2A3D"/>
                </a:solidFill>
                <a:latin typeface="Calibri"/>
              </a:defRPr>
            </a:pPr>
            <a:r>
              <a:t>Tebang &amp; angkut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035808" y="2926080"/>
            <a:ext cx="292608" cy="365760"/>
          </a:xfrm>
          <a:prstGeom prst="rightArrow">
            <a:avLst/>
          </a:prstGeom>
          <a:solidFill>
            <a:srgbClr val="555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37560" y="1188720"/>
            <a:ext cx="2560320" cy="502920"/>
          </a:xfrm>
          <a:prstGeom prst="rect">
            <a:avLst/>
          </a:prstGeom>
          <a:solidFill>
            <a:srgbClr val="008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60" y="1188720"/>
            <a:ext cx="25603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1691640"/>
            <a:ext cx="2560320" cy="3337560"/>
          </a:xfrm>
          <a:prstGeom prst="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66160" y="1874520"/>
            <a:ext cx="21031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800" b="1">
                <a:solidFill>
                  <a:srgbClr val="0B2A4A"/>
                </a:solidFill>
                <a:latin typeface="Calibri"/>
              </a:defRPr>
            </a:pPr>
            <a:r>
              <a:t>Pabrik Gula</a:t>
            </a:r>
          </a:p>
        </p:txBody>
      </p:sp>
      <p:sp>
        <p:nvSpPr>
          <p:cNvPr id="23" name="Oval 22"/>
          <p:cNvSpPr/>
          <p:nvPr/>
        </p:nvSpPr>
        <p:spPr>
          <a:xfrm>
            <a:off x="3611880" y="2670048"/>
            <a:ext cx="164592" cy="164592"/>
          </a:xfrm>
          <a:prstGeom prst="ellipse">
            <a:avLst/>
          </a:prstGeom>
          <a:solidFill>
            <a:srgbClr val="008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86200" y="2560320"/>
            <a:ext cx="1920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300" b="0">
                <a:solidFill>
                  <a:srgbClr val="1F2A3D"/>
                </a:solidFill>
                <a:latin typeface="Calibri"/>
              </a:defRPr>
            </a:pPr>
            <a:r>
              <a:t>Giling tebu</a:t>
            </a:r>
          </a:p>
        </p:txBody>
      </p:sp>
      <p:sp>
        <p:nvSpPr>
          <p:cNvPr id="25" name="Oval 24"/>
          <p:cNvSpPr/>
          <p:nvPr/>
        </p:nvSpPr>
        <p:spPr>
          <a:xfrm>
            <a:off x="3611880" y="3310128"/>
            <a:ext cx="164592" cy="164592"/>
          </a:xfrm>
          <a:prstGeom prst="ellipse">
            <a:avLst/>
          </a:prstGeom>
          <a:solidFill>
            <a:srgbClr val="008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86200" y="3200400"/>
            <a:ext cx="1920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300" b="0">
                <a:solidFill>
                  <a:srgbClr val="1F2A3D"/>
                </a:solidFill>
                <a:latin typeface="Calibri"/>
              </a:defRPr>
            </a:pPr>
            <a:r>
              <a:t>Murnikan nira</a:t>
            </a:r>
          </a:p>
        </p:txBody>
      </p:sp>
      <p:sp>
        <p:nvSpPr>
          <p:cNvPr id="27" name="Oval 26"/>
          <p:cNvSpPr/>
          <p:nvPr/>
        </p:nvSpPr>
        <p:spPr>
          <a:xfrm>
            <a:off x="3611880" y="3950208"/>
            <a:ext cx="164592" cy="164592"/>
          </a:xfrm>
          <a:prstGeom prst="ellipse">
            <a:avLst/>
          </a:prstGeom>
          <a:solidFill>
            <a:srgbClr val="008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86200" y="3840480"/>
            <a:ext cx="1920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300" b="0">
                <a:solidFill>
                  <a:srgbClr val="1F2A3D"/>
                </a:solidFill>
                <a:latin typeface="Calibri"/>
              </a:defRPr>
            </a:pPr>
            <a:r>
              <a:t>Kristal gula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916168" y="2926080"/>
            <a:ext cx="292608" cy="365760"/>
          </a:xfrm>
          <a:prstGeom prst="rightArrow">
            <a:avLst/>
          </a:prstGeom>
          <a:solidFill>
            <a:srgbClr val="555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1188720"/>
            <a:ext cx="2560320" cy="5029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1188720"/>
            <a:ext cx="25603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HILIR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1691640"/>
            <a:ext cx="2560320" cy="3337560"/>
          </a:xfrm>
          <a:prstGeom prst="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1874520"/>
            <a:ext cx="21031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800" b="1">
                <a:solidFill>
                  <a:srgbClr val="0B2A4A"/>
                </a:solidFill>
                <a:latin typeface="Calibri"/>
              </a:defRPr>
            </a:pPr>
            <a:r>
              <a:t>Distribusi</a:t>
            </a:r>
          </a:p>
        </p:txBody>
      </p:sp>
      <p:sp>
        <p:nvSpPr>
          <p:cNvPr id="34" name="Oval 33"/>
          <p:cNvSpPr/>
          <p:nvPr/>
        </p:nvSpPr>
        <p:spPr>
          <a:xfrm>
            <a:off x="6492240" y="2670048"/>
            <a:ext cx="164592" cy="164592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0" y="2560320"/>
            <a:ext cx="1920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300" b="0">
                <a:solidFill>
                  <a:srgbClr val="1F2A3D"/>
                </a:solidFill>
                <a:latin typeface="Calibri"/>
              </a:defRPr>
            </a:pPr>
            <a:r>
              <a:t>Gudang</a:t>
            </a:r>
          </a:p>
        </p:txBody>
      </p:sp>
      <p:sp>
        <p:nvSpPr>
          <p:cNvPr id="36" name="Oval 35"/>
          <p:cNvSpPr/>
          <p:nvPr/>
        </p:nvSpPr>
        <p:spPr>
          <a:xfrm>
            <a:off x="6492240" y="3310128"/>
            <a:ext cx="164592" cy="164592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0" y="3200400"/>
            <a:ext cx="1920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300" b="0">
                <a:solidFill>
                  <a:srgbClr val="1F2A3D"/>
                </a:solidFill>
                <a:latin typeface="Calibri"/>
              </a:defRPr>
            </a:pPr>
            <a:r>
              <a:t>Retail / Industri</a:t>
            </a:r>
          </a:p>
        </p:txBody>
      </p:sp>
      <p:sp>
        <p:nvSpPr>
          <p:cNvPr id="38" name="Oval 37"/>
          <p:cNvSpPr/>
          <p:nvPr/>
        </p:nvSpPr>
        <p:spPr>
          <a:xfrm>
            <a:off x="6492240" y="3950208"/>
            <a:ext cx="164592" cy="164592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0" y="3840480"/>
            <a:ext cx="1920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300" b="0">
                <a:solidFill>
                  <a:srgbClr val="1F2A3D"/>
                </a:solidFill>
                <a:latin typeface="Calibri"/>
              </a:defRPr>
            </a:pPr>
            <a:r>
              <a:t>Ekspor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8796528" y="2926080"/>
            <a:ext cx="292608" cy="365760"/>
          </a:xfrm>
          <a:prstGeom prst="rightArrow">
            <a:avLst/>
          </a:prstGeom>
          <a:solidFill>
            <a:srgbClr val="555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098280" y="1188720"/>
            <a:ext cx="2560320" cy="502920"/>
          </a:xfrm>
          <a:prstGeom prst="rect">
            <a:avLst/>
          </a:prstGeom>
          <a:solidFill>
            <a:srgbClr val="E8A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98280" y="1188720"/>
            <a:ext cx="25603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SAMPING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98280" y="1691640"/>
            <a:ext cx="2560320" cy="3337560"/>
          </a:xfrm>
          <a:prstGeom prst="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80" y="1874520"/>
            <a:ext cx="21031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800" b="1">
                <a:solidFill>
                  <a:srgbClr val="0B2A4A"/>
                </a:solidFill>
                <a:latin typeface="Calibri"/>
              </a:defRPr>
            </a:pPr>
            <a:r>
              <a:t>By-Product</a:t>
            </a:r>
          </a:p>
        </p:txBody>
      </p:sp>
      <p:sp>
        <p:nvSpPr>
          <p:cNvPr id="45" name="Oval 44"/>
          <p:cNvSpPr/>
          <p:nvPr/>
        </p:nvSpPr>
        <p:spPr>
          <a:xfrm>
            <a:off x="9372600" y="2670048"/>
            <a:ext cx="164592" cy="164592"/>
          </a:xfrm>
          <a:prstGeom prst="ellipse">
            <a:avLst/>
          </a:prstGeom>
          <a:solidFill>
            <a:srgbClr val="E8A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46920" y="2560320"/>
            <a:ext cx="1920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300" b="0">
                <a:solidFill>
                  <a:srgbClr val="1F2A3D"/>
                </a:solidFill>
                <a:latin typeface="Calibri"/>
              </a:defRPr>
            </a:pPr>
            <a:r>
              <a:t>Molasses</a:t>
            </a:r>
          </a:p>
        </p:txBody>
      </p:sp>
      <p:sp>
        <p:nvSpPr>
          <p:cNvPr id="47" name="Oval 46"/>
          <p:cNvSpPr/>
          <p:nvPr/>
        </p:nvSpPr>
        <p:spPr>
          <a:xfrm>
            <a:off x="9372600" y="3310128"/>
            <a:ext cx="164592" cy="164592"/>
          </a:xfrm>
          <a:prstGeom prst="ellipse">
            <a:avLst/>
          </a:prstGeom>
          <a:solidFill>
            <a:srgbClr val="E8A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46920" y="3200400"/>
            <a:ext cx="1920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300" b="0">
                <a:solidFill>
                  <a:srgbClr val="1F2A3D"/>
                </a:solidFill>
                <a:latin typeface="Calibri"/>
              </a:defRPr>
            </a:pPr>
            <a:r>
              <a:t>Bagasse → listrik</a:t>
            </a:r>
          </a:p>
        </p:txBody>
      </p:sp>
      <p:sp>
        <p:nvSpPr>
          <p:cNvPr id="49" name="Oval 48"/>
          <p:cNvSpPr/>
          <p:nvPr/>
        </p:nvSpPr>
        <p:spPr>
          <a:xfrm>
            <a:off x="9372600" y="3950208"/>
            <a:ext cx="164592" cy="164592"/>
          </a:xfrm>
          <a:prstGeom prst="ellipse">
            <a:avLst/>
          </a:prstGeom>
          <a:solidFill>
            <a:srgbClr val="E8A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46920" y="3840480"/>
            <a:ext cx="1920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300" b="0">
                <a:solidFill>
                  <a:srgbClr val="1F2A3D"/>
                </a:solidFill>
                <a:latin typeface="Calibri"/>
              </a:defRPr>
            </a:pPr>
            <a:r>
              <a:t>Blotong → pupuk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5394960"/>
            <a:ext cx="11247120" cy="914400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553212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300" b="1">
                <a:solidFill>
                  <a:srgbClr val="008C99"/>
                </a:solidFill>
                <a:latin typeface="Calibri"/>
              </a:defRPr>
            </a:pPr>
            <a:r>
              <a:t>💡 Insight Utama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585216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B2A4A"/>
                </a:solidFill>
                <a:latin typeface="Calibri"/>
              </a:defRPr>
            </a:pPr>
            <a:r>
              <a:t>Pabrik gula bukan hanya bisnis 'gula' — by-product menyumbang 15–25% revenue (circular economy).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91695" cy="45720"/>
          </a:xfrm>
          <a:prstGeom prst="rect">
            <a:avLst/>
          </a:prstGeom>
          <a:solidFill>
            <a:srgbClr val="E8A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Alur Bisnis End-to-End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"/>
            <a:ext cx="11887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5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47688"/>
            <a:ext cx="109728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900" b="0">
                <a:solidFill>
                  <a:srgbClr val="555B6E"/>
                </a:solidFill>
                <a:latin typeface="Calibri"/>
              </a:defRPr>
            </a:pPr>
            <a:r>
              <a:t>Overview Alur Bisnis Pabrik Gula  |  Internal Use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291840"/>
            <a:ext cx="10698480" cy="73152"/>
          </a:xfrm>
          <a:prstGeom prst="rect">
            <a:avLst/>
          </a:prstGeom>
          <a:solidFill>
            <a:srgbClr val="008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" y="2907792"/>
            <a:ext cx="822960" cy="822960"/>
          </a:xfrm>
          <a:prstGeom prst="ellipse">
            <a:avLst/>
          </a:prstGeom>
          <a:solidFill>
            <a:srgbClr val="0B2A4A"/>
          </a:solidFill>
          <a:ln w="31750">
            <a:solidFill>
              <a:srgbClr val="008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2907792"/>
            <a:ext cx="8229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182880" y="2194560"/>
            <a:ext cx="16459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400" b="1">
                <a:solidFill>
                  <a:srgbClr val="0B2A4A"/>
                </a:solidFill>
                <a:latin typeface="Calibri"/>
              </a:defRPr>
            </a:pPr>
            <a:r>
              <a:t>Tanam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182880" y="3931920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00" b="0">
                <a:solidFill>
                  <a:srgbClr val="555B6E"/>
                </a:solidFill>
                <a:latin typeface="Calibri"/>
              </a:defRPr>
            </a:pPr>
            <a:r>
              <a:t>10–14 bulan</a:t>
            </a:r>
          </a:p>
        </p:txBody>
      </p:sp>
      <p:sp>
        <p:nvSpPr>
          <p:cNvPr id="13" name="Oval 12"/>
          <p:cNvSpPr/>
          <p:nvPr/>
        </p:nvSpPr>
        <p:spPr>
          <a:xfrm>
            <a:off x="2042160" y="2907792"/>
            <a:ext cx="822960" cy="822960"/>
          </a:xfrm>
          <a:prstGeom prst="ellipse">
            <a:avLst/>
          </a:prstGeom>
          <a:solidFill>
            <a:srgbClr val="0B2A4A"/>
          </a:solidFill>
          <a:ln w="31750">
            <a:solidFill>
              <a:srgbClr val="008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42160" y="2907792"/>
            <a:ext cx="8229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✂️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30680" y="2194560"/>
            <a:ext cx="16459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400" b="1">
                <a:solidFill>
                  <a:srgbClr val="0B2A4A"/>
                </a:solidFill>
                <a:latin typeface="Calibri"/>
              </a:defRPr>
            </a:pPr>
            <a:r>
              <a:t>Tebang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30680" y="3931920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00" b="0">
                <a:solidFill>
                  <a:srgbClr val="555B6E"/>
                </a:solidFill>
                <a:latin typeface="Calibri"/>
              </a:defRPr>
            </a:pPr>
            <a:r>
              <a:t>Hari-H panen</a:t>
            </a:r>
          </a:p>
        </p:txBody>
      </p:sp>
      <p:sp>
        <p:nvSpPr>
          <p:cNvPr id="17" name="Oval 16"/>
          <p:cNvSpPr/>
          <p:nvPr/>
        </p:nvSpPr>
        <p:spPr>
          <a:xfrm>
            <a:off x="3855720" y="2907792"/>
            <a:ext cx="822960" cy="822960"/>
          </a:xfrm>
          <a:prstGeom prst="ellipse">
            <a:avLst/>
          </a:prstGeom>
          <a:solidFill>
            <a:srgbClr val="0B2A4A"/>
          </a:solidFill>
          <a:ln w="31750">
            <a:solidFill>
              <a:srgbClr val="008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55720" y="2907792"/>
            <a:ext cx="8229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4240" y="2194560"/>
            <a:ext cx="16459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400" b="1">
                <a:solidFill>
                  <a:srgbClr val="0B2A4A"/>
                </a:solidFill>
                <a:latin typeface="Calibri"/>
              </a:defRPr>
            </a:pPr>
            <a:r>
              <a:t>Angkut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4240" y="3931920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00" b="0">
                <a:solidFill>
                  <a:srgbClr val="555B6E"/>
                </a:solidFill>
                <a:latin typeface="Calibri"/>
              </a:defRPr>
            </a:pPr>
            <a:r>
              <a:t>&lt; 24 jam</a:t>
            </a:r>
          </a:p>
        </p:txBody>
      </p:sp>
      <p:sp>
        <p:nvSpPr>
          <p:cNvPr id="21" name="Oval 20"/>
          <p:cNvSpPr/>
          <p:nvPr/>
        </p:nvSpPr>
        <p:spPr>
          <a:xfrm>
            <a:off x="5669280" y="2907792"/>
            <a:ext cx="822960" cy="822960"/>
          </a:xfrm>
          <a:prstGeom prst="ellipse">
            <a:avLst/>
          </a:prstGeom>
          <a:solidFill>
            <a:srgbClr val="0B2A4A"/>
          </a:solidFill>
          <a:ln w="31750">
            <a:solidFill>
              <a:srgbClr val="008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0" y="2907792"/>
            <a:ext cx="8229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⚙️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2194560"/>
            <a:ext cx="16459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400" b="1">
                <a:solidFill>
                  <a:srgbClr val="0B2A4A"/>
                </a:solidFill>
                <a:latin typeface="Calibri"/>
              </a:defRPr>
            </a:pPr>
            <a:r>
              <a:t>Giling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3931920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00" b="0">
                <a:solidFill>
                  <a:srgbClr val="555B6E"/>
                </a:solidFill>
                <a:latin typeface="Calibri"/>
              </a:defRPr>
            </a:pPr>
            <a:r>
              <a:t>12–24 jam</a:t>
            </a:r>
          </a:p>
        </p:txBody>
      </p:sp>
      <p:sp>
        <p:nvSpPr>
          <p:cNvPr id="25" name="Oval 24"/>
          <p:cNvSpPr/>
          <p:nvPr/>
        </p:nvSpPr>
        <p:spPr>
          <a:xfrm>
            <a:off x="7482840" y="2907792"/>
            <a:ext cx="822960" cy="822960"/>
          </a:xfrm>
          <a:prstGeom prst="ellipse">
            <a:avLst/>
          </a:prstGeom>
          <a:solidFill>
            <a:srgbClr val="0B2A4A"/>
          </a:solidFill>
          <a:ln w="31750">
            <a:solidFill>
              <a:srgbClr val="008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82840" y="2907792"/>
            <a:ext cx="8229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1360" y="2194560"/>
            <a:ext cx="16459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400" b="1">
                <a:solidFill>
                  <a:srgbClr val="0B2A4A"/>
                </a:solidFill>
                <a:latin typeface="Calibri"/>
              </a:defRPr>
            </a:pPr>
            <a:r>
              <a:t>Olah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71360" y="3931920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00" b="0">
                <a:solidFill>
                  <a:srgbClr val="555B6E"/>
                </a:solidFill>
                <a:latin typeface="Calibri"/>
              </a:defRPr>
            </a:pPr>
            <a:r>
              <a:t>Non-stop</a:t>
            </a:r>
          </a:p>
        </p:txBody>
      </p:sp>
      <p:sp>
        <p:nvSpPr>
          <p:cNvPr id="29" name="Oval 28"/>
          <p:cNvSpPr/>
          <p:nvPr/>
        </p:nvSpPr>
        <p:spPr>
          <a:xfrm>
            <a:off x="9296400" y="2907792"/>
            <a:ext cx="822960" cy="822960"/>
          </a:xfrm>
          <a:prstGeom prst="ellipse">
            <a:avLst/>
          </a:prstGeom>
          <a:solidFill>
            <a:srgbClr val="0B2A4A"/>
          </a:solidFill>
          <a:ln w="31750">
            <a:solidFill>
              <a:srgbClr val="008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96400" y="2907792"/>
            <a:ext cx="8229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4920" y="2194560"/>
            <a:ext cx="16459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400" b="1">
                <a:solidFill>
                  <a:srgbClr val="0B2A4A"/>
                </a:solidFill>
                <a:latin typeface="Calibri"/>
              </a:defRPr>
            </a:pPr>
            <a:r>
              <a:t>Packing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4920" y="3931920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00" b="0">
                <a:solidFill>
                  <a:srgbClr val="555B6E"/>
                </a:solidFill>
                <a:latin typeface="Calibri"/>
              </a:defRPr>
            </a:pPr>
            <a:r>
              <a:t>Real-time</a:t>
            </a:r>
          </a:p>
        </p:txBody>
      </p:sp>
      <p:sp>
        <p:nvSpPr>
          <p:cNvPr id="33" name="Oval 32"/>
          <p:cNvSpPr/>
          <p:nvPr/>
        </p:nvSpPr>
        <p:spPr>
          <a:xfrm>
            <a:off x="11109960" y="2907792"/>
            <a:ext cx="822960" cy="822960"/>
          </a:xfrm>
          <a:prstGeom prst="ellipse">
            <a:avLst/>
          </a:prstGeom>
          <a:solidFill>
            <a:srgbClr val="0B2A4A"/>
          </a:solidFill>
          <a:ln w="31750">
            <a:solidFill>
              <a:srgbClr val="008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109960" y="2907792"/>
            <a:ext cx="8229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98480" y="2194560"/>
            <a:ext cx="16459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400" b="1">
                <a:solidFill>
                  <a:srgbClr val="0B2A4A"/>
                </a:solidFill>
                <a:latin typeface="Calibri"/>
              </a:defRPr>
            </a:pPr>
            <a:r>
              <a:t>Jual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98480" y="3931920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00" b="0">
                <a:solidFill>
                  <a:srgbClr val="555B6E"/>
                </a:solidFill>
                <a:latin typeface="Calibri"/>
              </a:defRPr>
            </a:pPr>
            <a:r>
              <a:t>Distribusi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914400"/>
            <a:ext cx="10698480" cy="822960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9601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500" b="1">
                <a:solidFill>
                  <a:srgbClr val="0B2A4A"/>
                </a:solidFill>
                <a:latin typeface="Calibri"/>
              </a:defRPr>
            </a:pPr>
            <a:r>
              <a:t>⏱  Lead time tebu tebang → gula siap jual: 24–48 jam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13258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555B6E"/>
                </a:solidFill>
                <a:latin typeface="Calibri"/>
              </a:defRPr>
            </a:pPr>
            <a:r>
              <a:t>Setiap jam delay pasca tebang = pol turun ±0,1% → rendemen turun → margin tergerus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4937760"/>
            <a:ext cx="35204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4937760"/>
            <a:ext cx="137160" cy="1280160"/>
          </a:xfrm>
          <a:prstGeom prst="rect">
            <a:avLst/>
          </a:prstGeom>
          <a:solidFill>
            <a:srgbClr val="008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" y="5120640"/>
            <a:ext cx="30632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000" b="1">
                <a:solidFill>
                  <a:srgbClr val="0B2A4A"/>
                </a:solidFill>
                <a:latin typeface="Calibri"/>
              </a:defRPr>
            </a:pPr>
            <a:r>
              <a:t>100 ton tebu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" y="5715000"/>
            <a:ext cx="3063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555B6E"/>
                </a:solidFill>
                <a:latin typeface="Calibri"/>
              </a:defRPr>
            </a:pPr>
            <a:r>
              <a:t>Input bahan baku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34840" y="4937760"/>
            <a:ext cx="35204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34840" y="4937760"/>
            <a:ext cx="137160" cy="1280160"/>
          </a:xfrm>
          <a:prstGeom prst="rect">
            <a:avLst/>
          </a:prstGeom>
          <a:solidFill>
            <a:srgbClr val="E8A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54880" y="5120640"/>
            <a:ext cx="30632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000" b="1">
                <a:solidFill>
                  <a:srgbClr val="0B2A4A"/>
                </a:solidFill>
                <a:latin typeface="Calibri"/>
              </a:defRPr>
            </a:pPr>
            <a:r>
              <a:t>8–10 ton gula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0" y="5715000"/>
            <a:ext cx="3063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555B6E"/>
                </a:solidFill>
                <a:latin typeface="Calibri"/>
              </a:defRPr>
            </a:pPr>
            <a:r>
              <a:t>Output utama (rendemen)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38160" y="4937760"/>
            <a:ext cx="35204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38160" y="4937760"/>
            <a:ext cx="137160" cy="128016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58200" y="5120640"/>
            <a:ext cx="30632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000" b="1">
                <a:solidFill>
                  <a:srgbClr val="0B2A4A"/>
                </a:solidFill>
                <a:latin typeface="Calibri"/>
              </a:defRPr>
            </a:pPr>
            <a:r>
              <a:t>+30 ton ampas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58200" y="5715000"/>
            <a:ext cx="3063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555B6E"/>
                </a:solidFill>
                <a:latin typeface="Calibri"/>
              </a:defRPr>
            </a:pPr>
            <a:r>
              <a:t>Bagasse → listrik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91695" cy="45720"/>
          </a:xfrm>
          <a:prstGeom prst="rect">
            <a:avLst/>
          </a:prstGeom>
          <a:solidFill>
            <a:srgbClr val="E8A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Proses Produksi: 9 Tahapan Utama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"/>
            <a:ext cx="11887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6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47688"/>
            <a:ext cx="109728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900" b="0">
                <a:solidFill>
                  <a:srgbClr val="555B6E"/>
                </a:solidFill>
                <a:latin typeface="Calibri"/>
              </a:defRPr>
            </a:pPr>
            <a:r>
              <a:t>Overview Alur Bisnis Pabrik Gula  |  Internal 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097280"/>
            <a:ext cx="36576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94360" y="1325880"/>
            <a:ext cx="640080" cy="640080"/>
          </a:xfrm>
          <a:prstGeom prst="ellipse">
            <a:avLst/>
          </a:prstGeom>
          <a:solidFill>
            <a:srgbClr val="008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32588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280160"/>
            <a:ext cx="2560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600" b="1">
                <a:solidFill>
                  <a:srgbClr val="0B2A4A"/>
                </a:solidFill>
                <a:latin typeface="Calibri"/>
              </a:defRPr>
            </a:pPr>
            <a:r>
              <a:t>Penerimaan Tebu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783080"/>
            <a:ext cx="2560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555B6E"/>
                </a:solidFill>
                <a:latin typeface="Calibri"/>
              </a:defRPr>
            </a:pPr>
            <a:r>
              <a:t>Timbang &amp; cek pol/brix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69080" y="1696212"/>
            <a:ext cx="164592" cy="219456"/>
          </a:xfrm>
          <a:prstGeom prst="rightArrow">
            <a:avLst/>
          </a:prstGeom>
          <a:solidFill>
            <a:srgbClr val="555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51960" y="1097280"/>
            <a:ext cx="36576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4840" y="1325880"/>
            <a:ext cx="640080" cy="640080"/>
          </a:xfrm>
          <a:prstGeom prst="ellipse">
            <a:avLst/>
          </a:prstGeom>
          <a:solidFill>
            <a:srgbClr val="008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32588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1280160"/>
            <a:ext cx="2560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600" b="1">
                <a:solidFill>
                  <a:srgbClr val="0B2A4A"/>
                </a:solidFill>
                <a:latin typeface="Calibri"/>
              </a:defRPr>
            </a:pPr>
            <a:r>
              <a:t>Cane Handling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1783080"/>
            <a:ext cx="2560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555B6E"/>
                </a:solidFill>
                <a:latin typeface="Calibri"/>
              </a:defRPr>
            </a:pPr>
            <a:r>
              <a:t>Cacah &amp; siapkan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909560" y="1696212"/>
            <a:ext cx="164592" cy="219456"/>
          </a:xfrm>
          <a:prstGeom prst="rightArrow">
            <a:avLst/>
          </a:prstGeom>
          <a:solidFill>
            <a:srgbClr val="555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92440" y="1097280"/>
            <a:ext cx="36576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75320" y="1325880"/>
            <a:ext cx="640080" cy="640080"/>
          </a:xfrm>
          <a:prstGeom prst="ellipse">
            <a:avLst/>
          </a:prstGeom>
          <a:solidFill>
            <a:srgbClr val="008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132588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1280160"/>
            <a:ext cx="2560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600" b="1">
                <a:solidFill>
                  <a:srgbClr val="0B2A4A"/>
                </a:solidFill>
                <a:latin typeface="Calibri"/>
              </a:defRPr>
            </a:pPr>
            <a:r>
              <a:t>Milling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1783080"/>
            <a:ext cx="2560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555B6E"/>
                </a:solidFill>
                <a:latin typeface="Calibri"/>
              </a:defRPr>
            </a:pPr>
            <a:r>
              <a:t>Giling → nira + ampas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2697480"/>
            <a:ext cx="36576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A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94360" y="2926080"/>
            <a:ext cx="640080" cy="640080"/>
          </a:xfrm>
          <a:prstGeom prst="ellipse">
            <a:avLst/>
          </a:prstGeom>
          <a:solidFill>
            <a:srgbClr val="E8A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292608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2880360"/>
            <a:ext cx="2560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600" b="1">
                <a:solidFill>
                  <a:srgbClr val="0B2A4A"/>
                </a:solidFill>
                <a:latin typeface="Calibri"/>
              </a:defRPr>
            </a:pPr>
            <a:r>
              <a:t>Clarification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3383280"/>
            <a:ext cx="2560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555B6E"/>
                </a:solidFill>
                <a:latin typeface="Calibri"/>
              </a:defRPr>
            </a:pPr>
            <a:r>
              <a:t>Murnikan nira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4069080" y="3296412"/>
            <a:ext cx="164592" cy="219456"/>
          </a:xfrm>
          <a:prstGeom prst="rightArrow">
            <a:avLst/>
          </a:prstGeom>
          <a:solidFill>
            <a:srgbClr val="555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251960" y="2697480"/>
            <a:ext cx="36576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A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34840" y="2926080"/>
            <a:ext cx="640080" cy="640080"/>
          </a:xfrm>
          <a:prstGeom prst="ellipse">
            <a:avLst/>
          </a:prstGeom>
          <a:solidFill>
            <a:srgbClr val="E8A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292608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2880360"/>
            <a:ext cx="2560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600" b="1">
                <a:solidFill>
                  <a:srgbClr val="0B2A4A"/>
                </a:solidFill>
                <a:latin typeface="Calibri"/>
              </a:defRPr>
            </a:pPr>
            <a:r>
              <a:t>Evaporation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0" y="3383280"/>
            <a:ext cx="2560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555B6E"/>
                </a:solidFill>
                <a:latin typeface="Calibri"/>
              </a:defRPr>
            </a:pPr>
            <a:r>
              <a:t>Uapkan air, brix naik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7909560" y="3296412"/>
            <a:ext cx="164592" cy="219456"/>
          </a:xfrm>
          <a:prstGeom prst="rightArrow">
            <a:avLst/>
          </a:prstGeom>
          <a:solidFill>
            <a:srgbClr val="555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92440" y="2697480"/>
            <a:ext cx="36576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A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275320" y="2926080"/>
            <a:ext cx="640080" cy="640080"/>
          </a:xfrm>
          <a:prstGeom prst="ellipse">
            <a:avLst/>
          </a:prstGeom>
          <a:solidFill>
            <a:srgbClr val="E8A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75320" y="292608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0" y="2880360"/>
            <a:ext cx="2560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600" b="1">
                <a:solidFill>
                  <a:srgbClr val="0B2A4A"/>
                </a:solidFill>
                <a:latin typeface="Calibri"/>
              </a:defRPr>
            </a:pPr>
            <a:r>
              <a:t>Crystallization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0" y="3383280"/>
            <a:ext cx="2560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555B6E"/>
                </a:solidFill>
                <a:latin typeface="Calibri"/>
              </a:defRPr>
            </a:pPr>
            <a:r>
              <a:t>Bentuk kristal gula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1480" y="4297680"/>
            <a:ext cx="36576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94360" y="4526280"/>
            <a:ext cx="640080" cy="64008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" y="452628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4480560"/>
            <a:ext cx="2560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600" b="1">
                <a:solidFill>
                  <a:srgbClr val="0B2A4A"/>
                </a:solidFill>
                <a:latin typeface="Calibri"/>
              </a:defRPr>
            </a:pPr>
            <a:r>
              <a:t>Centrifugation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4983480"/>
            <a:ext cx="2560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555B6E"/>
                </a:solidFill>
                <a:latin typeface="Calibri"/>
              </a:defRPr>
            </a:pPr>
            <a:r>
              <a:t>Pisah kristal &amp; tetes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4069080" y="4896612"/>
            <a:ext cx="164592" cy="219456"/>
          </a:xfrm>
          <a:prstGeom prst="rightArrow">
            <a:avLst/>
          </a:prstGeom>
          <a:solidFill>
            <a:srgbClr val="555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251960" y="4297680"/>
            <a:ext cx="36576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434840" y="4526280"/>
            <a:ext cx="640080" cy="64008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34840" y="452628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12080" y="4480560"/>
            <a:ext cx="2560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600" b="1">
                <a:solidFill>
                  <a:srgbClr val="0B2A4A"/>
                </a:solidFill>
                <a:latin typeface="Calibri"/>
              </a:defRPr>
            </a:pPr>
            <a:r>
              <a:t>Drying &amp; Cooling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12080" y="4983480"/>
            <a:ext cx="2560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555B6E"/>
                </a:solidFill>
                <a:latin typeface="Calibri"/>
              </a:defRPr>
            </a:pPr>
            <a:r>
              <a:t>Kering &amp; dinginkan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7909560" y="4896612"/>
            <a:ext cx="164592" cy="219456"/>
          </a:xfrm>
          <a:prstGeom prst="rightArrow">
            <a:avLst/>
          </a:prstGeom>
          <a:solidFill>
            <a:srgbClr val="555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092440" y="4297680"/>
            <a:ext cx="36576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275320" y="4526280"/>
            <a:ext cx="640080" cy="64008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75320" y="452628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52560" y="4480560"/>
            <a:ext cx="2560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600" b="1">
                <a:solidFill>
                  <a:srgbClr val="0B2A4A"/>
                </a:solidFill>
                <a:latin typeface="Calibri"/>
              </a:defRPr>
            </a:pPr>
            <a:r>
              <a:t>Packaging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0" y="4983480"/>
            <a:ext cx="2560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555B6E"/>
                </a:solidFill>
                <a:latin typeface="Calibri"/>
              </a:defRPr>
            </a:pPr>
            <a:r>
              <a:t>Kemas &amp; gudang</a:t>
            </a:r>
          </a:p>
        </p:txBody>
      </p:sp>
      <p:sp>
        <p:nvSpPr>
          <p:cNvPr id="59" name="Oval 58"/>
          <p:cNvSpPr/>
          <p:nvPr/>
        </p:nvSpPr>
        <p:spPr>
          <a:xfrm>
            <a:off x="548640" y="5806440"/>
            <a:ext cx="228600" cy="228600"/>
          </a:xfrm>
          <a:prstGeom prst="ellipse">
            <a:avLst/>
          </a:prstGeom>
          <a:solidFill>
            <a:srgbClr val="008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4400" y="576072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1">
                <a:solidFill>
                  <a:srgbClr val="1F2A3D"/>
                </a:solidFill>
                <a:latin typeface="Calibri"/>
              </a:defRPr>
            </a:pPr>
            <a:r>
              <a:t>Bahan baku</a:t>
            </a:r>
          </a:p>
        </p:txBody>
      </p:sp>
      <p:sp>
        <p:nvSpPr>
          <p:cNvPr id="61" name="Oval 60"/>
          <p:cNvSpPr/>
          <p:nvPr/>
        </p:nvSpPr>
        <p:spPr>
          <a:xfrm>
            <a:off x="3566160" y="5806440"/>
            <a:ext cx="228600" cy="228600"/>
          </a:xfrm>
          <a:prstGeom prst="ellipse">
            <a:avLst/>
          </a:prstGeom>
          <a:solidFill>
            <a:srgbClr val="E8A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931920" y="576072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1">
                <a:solidFill>
                  <a:srgbClr val="1F2A3D"/>
                </a:solidFill>
                <a:latin typeface="Calibri"/>
              </a:defRPr>
            </a:pPr>
            <a:r>
              <a:t>Pemurnian &amp; masakan</a:t>
            </a:r>
          </a:p>
        </p:txBody>
      </p:sp>
      <p:sp>
        <p:nvSpPr>
          <p:cNvPr id="63" name="Oval 62"/>
          <p:cNvSpPr/>
          <p:nvPr/>
        </p:nvSpPr>
        <p:spPr>
          <a:xfrm>
            <a:off x="6583680" y="5806440"/>
            <a:ext cx="228600" cy="2286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949440" y="576072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1">
                <a:solidFill>
                  <a:srgbClr val="1F2A3D"/>
                </a:solidFill>
                <a:latin typeface="Calibri"/>
              </a:defRPr>
            </a:pPr>
            <a:r>
              <a:t>Finishing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91695" cy="45720"/>
          </a:xfrm>
          <a:prstGeom prst="rect">
            <a:avLst/>
          </a:prstGeom>
          <a:solidFill>
            <a:srgbClr val="E8A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Detail Setiap Tahapan: Input →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"/>
            <a:ext cx="11887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7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47688"/>
            <a:ext cx="109728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900" b="0">
                <a:solidFill>
                  <a:srgbClr val="555B6E"/>
                </a:solidFill>
                <a:latin typeface="Calibri"/>
              </a:defRPr>
            </a:pPr>
            <a:r>
              <a:t>Overview Alur Bisnis Pabrik Gula  |  Internal Use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097280"/>
          <a:ext cx="112471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560320"/>
                <a:gridCol w="3291840"/>
                <a:gridCol w="3200400"/>
              </a:tblGrid>
              <a:tr h="640080">
                <a:tc>
                  <a:txBody>
                    <a:bodyPr lIns="137160" anchor="ctr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Tahap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137160" anchor="ctr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137160" anchor="ctr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Output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 lIns="137160" anchor="ctr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Tujuan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640080">
                <a:tc>
                  <a:txBody>
                    <a:bodyPr lIns="137160" anchor="ctr"/>
                    <a:lstStyle/>
                    <a:p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Milling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37160" anchor="ctr"/>
                    <a:lstStyle/>
                    <a:p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Tebu cacah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37160" anchor="ctr"/>
                    <a:lstStyle/>
                    <a:p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Nira mentah + ampas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37160" anchor="ctr"/>
                    <a:lstStyle/>
                    <a:p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Ekstrak gula dari serat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lIns="137160" anchor="ctr"/>
                    <a:lstStyle/>
                    <a:p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Clarification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lIns="137160" anchor="ctr"/>
                    <a:lstStyle/>
                    <a:p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Nira mentah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lIns="137160" anchor="ctr"/>
                    <a:lstStyle/>
                    <a:p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Nira jernih + blotong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lIns="137160" anchor="ctr"/>
                    <a:lstStyle/>
                    <a:p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Buang kotoran &amp; koloid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640080">
                <a:tc>
                  <a:txBody>
                    <a:bodyPr lIns="137160" anchor="ctr"/>
                    <a:lstStyle/>
                    <a:p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Evaporation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37160" anchor="ctr"/>
                    <a:lstStyle/>
                    <a:p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Nira jernih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37160" anchor="ctr"/>
                    <a:lstStyle/>
                    <a:p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Nira kental (brix 65%)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37160" anchor="ctr"/>
                    <a:lstStyle/>
                    <a:p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Kurangi kadar air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lIns="137160" anchor="ctr"/>
                    <a:lstStyle/>
                    <a:p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Crystallization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lIns="137160" anchor="ctr"/>
                    <a:lstStyle/>
                    <a:p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Nira kental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lIns="137160" anchor="ctr"/>
                    <a:lstStyle/>
                    <a:p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Massecuite (kristal)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lIns="137160" anchor="ctr"/>
                    <a:lstStyle/>
                    <a:p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Bentuk kristal gula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640080">
                <a:tc>
                  <a:txBody>
                    <a:bodyPr lIns="137160" anchor="ctr"/>
                    <a:lstStyle/>
                    <a:p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Centrifugation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37160" anchor="ctr"/>
                    <a:lstStyle/>
                    <a:p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Massecuite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37160" anchor="ctr"/>
                    <a:lstStyle/>
                    <a:p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Gula + molasses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37160" anchor="ctr"/>
                    <a:lstStyle/>
                    <a:p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Pisahkan kristal &amp; cairan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lIns="137160" anchor="ctr"/>
                    <a:lstStyle/>
                    <a:p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Drying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lIns="137160" anchor="ctr"/>
                    <a:lstStyle/>
                    <a:p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Gula basah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lIns="137160" anchor="ctr"/>
                    <a:lstStyle/>
                    <a:p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Gula kering siap kemas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lIns="137160" anchor="ctr"/>
                    <a:lstStyle/>
                    <a:p>
                      <a:r>
                        <a:rPr sz="1200">
                          <a:solidFill>
                            <a:srgbClr val="1F2A3D"/>
                          </a:solidFill>
                          <a:latin typeface="Calibri"/>
                        </a:rPr>
                        <a:t>Turunkan kadar air &lt;0,5%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5760720"/>
            <a:ext cx="11247120" cy="73152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8978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Ingat: tiap tahap punya 'losses' (gula yang hilang). Total losses target &lt; 2,5% — itulah kenapa kontrol proses krusial.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91695" cy="45720"/>
          </a:xfrm>
          <a:prstGeom prst="rect">
            <a:avLst/>
          </a:prstGeom>
          <a:solidFill>
            <a:srgbClr val="E8A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Produk Utama &amp; Produk Samping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"/>
            <a:ext cx="11887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8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47688"/>
            <a:ext cx="109728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900" b="0">
                <a:solidFill>
                  <a:srgbClr val="555B6E"/>
                </a:solidFill>
                <a:latin typeface="Calibri"/>
              </a:defRPr>
            </a:pPr>
            <a:r>
              <a:t>Overview Alur Bisnis Pabrik Gula  |  Internal 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960120"/>
            <a:ext cx="114300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960120"/>
            <a:ext cx="164592" cy="1417320"/>
          </a:xfrm>
          <a:prstGeom prst="rect">
            <a:avLst/>
          </a:prstGeom>
          <a:solidFill>
            <a:srgbClr val="E8A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05156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1">
                <a:solidFill>
                  <a:srgbClr val="E8A81C"/>
                </a:solidFill>
                <a:latin typeface="Calibri"/>
              </a:defRPr>
            </a:pPr>
            <a:r>
              <a:t>🍬  Produk Utama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371600"/>
            <a:ext cx="73152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200" b="1">
                <a:solidFill>
                  <a:srgbClr val="0B2A4A"/>
                </a:solidFill>
                <a:latin typeface="Calibri"/>
              </a:defRPr>
            </a:pPr>
            <a:r>
              <a:t>Gula Kristal Putih / SHS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2880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300" b="0">
                <a:solidFill>
                  <a:srgbClr val="555B6E"/>
                </a:solidFill>
                <a:latin typeface="Calibri"/>
              </a:defRPr>
            </a:pPr>
            <a:r>
              <a:t>Pol ≥ 99,3%  •  ICUMSA 150–600  •  ~70–80% dari total revenue  •  8–10 ton dari 100 ton tebu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697480"/>
            <a:ext cx="27889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697480"/>
            <a:ext cx="2788920" cy="457200"/>
          </a:xfrm>
          <a:prstGeom prst="rect">
            <a:avLst/>
          </a:prstGeom>
          <a:solidFill>
            <a:srgbClr val="E8A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743200"/>
            <a:ext cx="27889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REVENUE  10–15%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337560"/>
            <a:ext cx="27889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3200" b="0">
                <a:solidFill>
                  <a:srgbClr val="1F2A3D"/>
                </a:solidFill>
                <a:latin typeface="Calibri"/>
              </a:defRPr>
            </a:pPr>
            <a:r>
              <a:t>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06908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800" b="1">
                <a:solidFill>
                  <a:srgbClr val="0B2A4A"/>
                </a:solidFill>
                <a:latin typeface="Calibri"/>
              </a:defRPr>
            </a:pPr>
            <a:r>
              <a:t>Molasses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71999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00" b="0">
                <a:solidFill>
                  <a:srgbClr val="555B6E"/>
                </a:solidFill>
                <a:latin typeface="Calibri"/>
              </a:defRPr>
            </a:pPr>
            <a:r>
              <a:t>Tetes hitam pekat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120640"/>
            <a:ext cx="2057400" cy="18288"/>
          </a:xfrm>
          <a:prstGeom prst="rect">
            <a:avLst/>
          </a:prstGeom>
          <a:solidFill>
            <a:srgbClr val="DD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257800"/>
            <a:ext cx="24231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00" b="0">
                <a:solidFill>
                  <a:srgbClr val="1F2A3D"/>
                </a:solidFill>
                <a:latin typeface="Calibri"/>
              </a:defRPr>
            </a:pPr>
            <a:r>
              <a:t>Pakan, alkohol, MSG, ragi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73552" y="2697480"/>
            <a:ext cx="27889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73552" y="2697480"/>
            <a:ext cx="278892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56432" y="2743200"/>
            <a:ext cx="27889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REVENUE  5–10%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73552" y="3337560"/>
            <a:ext cx="27889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3200" b="0">
                <a:solidFill>
                  <a:srgbClr val="1F2A3D"/>
                </a:solidFill>
                <a:latin typeface="Calibri"/>
              </a:defRPr>
            </a:pPr>
            <a:r>
              <a:t>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56432" y="406908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800" b="1">
                <a:solidFill>
                  <a:srgbClr val="0B2A4A"/>
                </a:solidFill>
                <a:latin typeface="Calibri"/>
              </a:defRPr>
            </a:pPr>
            <a:r>
              <a:t>Bagasse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56432" y="4571999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00" b="0">
                <a:solidFill>
                  <a:srgbClr val="555B6E"/>
                </a:solidFill>
                <a:latin typeface="Calibri"/>
              </a:defRPr>
            </a:pPr>
            <a:r>
              <a:t>Ampas tebu kering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39312" y="5120640"/>
            <a:ext cx="2057400" cy="18288"/>
          </a:xfrm>
          <a:prstGeom prst="rect">
            <a:avLst/>
          </a:prstGeom>
          <a:solidFill>
            <a:srgbClr val="DD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56432" y="5257800"/>
            <a:ext cx="24231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00" b="0">
                <a:solidFill>
                  <a:srgbClr val="1F2A3D"/>
                </a:solidFill>
                <a:latin typeface="Calibri"/>
              </a:defRPr>
            </a:pPr>
            <a:r>
              <a:t>Bahan bakar boiler &amp; co-gen listrik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2697480"/>
            <a:ext cx="27889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2697480"/>
            <a:ext cx="2788920" cy="457200"/>
          </a:xfrm>
          <a:prstGeom prst="rect">
            <a:avLst/>
          </a:prstGeom>
          <a:solidFill>
            <a:srgbClr val="008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64224" y="2743200"/>
            <a:ext cx="27889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REVENUE  2–3%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81344" y="3337560"/>
            <a:ext cx="27889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3200" b="0">
                <a:solidFill>
                  <a:srgbClr val="1F2A3D"/>
                </a:solidFill>
                <a:latin typeface="Calibri"/>
              </a:defRPr>
            </a:pPr>
            <a:r>
              <a:t>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64224" y="406908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800" b="1">
                <a:solidFill>
                  <a:srgbClr val="0B2A4A"/>
                </a:solidFill>
                <a:latin typeface="Calibri"/>
              </a:defRPr>
            </a:pPr>
            <a:r>
              <a:t>Blotong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64224" y="4571999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00" b="0">
                <a:solidFill>
                  <a:srgbClr val="555B6E"/>
                </a:solidFill>
                <a:latin typeface="Calibri"/>
              </a:defRPr>
            </a:pPr>
            <a:r>
              <a:t>Filter cake organik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47104" y="5120640"/>
            <a:ext cx="2057400" cy="18288"/>
          </a:xfrm>
          <a:prstGeom prst="rect">
            <a:avLst/>
          </a:prstGeom>
          <a:solidFill>
            <a:srgbClr val="DD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64224" y="5257800"/>
            <a:ext cx="24231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00" b="0">
                <a:solidFill>
                  <a:srgbClr val="1F2A3D"/>
                </a:solidFill>
                <a:latin typeface="Calibri"/>
              </a:defRPr>
            </a:pPr>
            <a:r>
              <a:t>Pupuk organik kebun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89136" y="2697480"/>
            <a:ext cx="27889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89136" y="2697480"/>
            <a:ext cx="2788920" cy="4572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72016" y="2743200"/>
            <a:ext cx="27889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REVENUE  3–5%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89136" y="3337560"/>
            <a:ext cx="27889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3200" b="0">
                <a:solidFill>
                  <a:srgbClr val="1F2A3D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72016" y="406908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800" b="1">
                <a:solidFill>
                  <a:srgbClr val="0B2A4A"/>
                </a:solidFill>
                <a:latin typeface="Calibri"/>
              </a:defRPr>
            </a:pPr>
            <a:r>
              <a:t>Listrik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72016" y="4571999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00" b="0">
                <a:solidFill>
                  <a:srgbClr val="555B6E"/>
                </a:solidFill>
                <a:latin typeface="Calibri"/>
              </a:defRPr>
            </a:pPr>
            <a:r>
              <a:t>Energi co-generation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54896" y="5120640"/>
            <a:ext cx="2057400" cy="18288"/>
          </a:xfrm>
          <a:prstGeom prst="rect">
            <a:avLst/>
          </a:prstGeom>
          <a:solidFill>
            <a:srgbClr val="DD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72016" y="5257800"/>
            <a:ext cx="24231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00" b="0">
                <a:solidFill>
                  <a:srgbClr val="1F2A3D"/>
                </a:solidFill>
                <a:latin typeface="Calibri"/>
              </a:defRPr>
            </a:pPr>
            <a:r>
              <a:t>Pakai sendiri + jual ke PLN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91695" cy="45720"/>
          </a:xfrm>
          <a:prstGeom prst="rect">
            <a:avLst/>
          </a:prstGeom>
          <a:solidFill>
            <a:srgbClr val="E8A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Divisi Operasional Pabrik Gula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"/>
            <a:ext cx="11887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9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47688"/>
            <a:ext cx="109728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900" b="0">
                <a:solidFill>
                  <a:srgbClr val="555B6E"/>
                </a:solidFill>
                <a:latin typeface="Calibri"/>
              </a:defRPr>
            </a:pPr>
            <a:r>
              <a:t>Overview Alur Bisnis Pabrik Gula  |  Internal 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005840"/>
            <a:ext cx="2743200" cy="73152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005840"/>
            <a:ext cx="274320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GENERAL MANAGER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1737360"/>
            <a:ext cx="45720" cy="3657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103120"/>
            <a:ext cx="10561320" cy="457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34440" y="2148840"/>
            <a:ext cx="45720" cy="1828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5760" y="2286000"/>
            <a:ext cx="178308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286000"/>
            <a:ext cx="1783080" cy="5029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331720"/>
            <a:ext cx="17830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Tanaman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1600200" cy="1371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1100" b="0">
                <a:solidFill>
                  <a:srgbClr val="1F2A3D"/>
                </a:solidFill>
                <a:latin typeface="Calibri"/>
              </a:defRPr>
            </a:pPr>
            <a:r>
              <a:t>Kebun, panen, angkut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0" y="2148840"/>
            <a:ext cx="45720" cy="1828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240280" y="2286000"/>
            <a:ext cx="178308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8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40280" y="2286000"/>
            <a:ext cx="1783080" cy="502920"/>
          </a:xfrm>
          <a:prstGeom prst="rect">
            <a:avLst/>
          </a:prstGeom>
          <a:solidFill>
            <a:srgbClr val="008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40280" y="2331720"/>
            <a:ext cx="17830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Pabrikasi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2926080"/>
            <a:ext cx="1600200" cy="1371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1100" b="0">
                <a:solidFill>
                  <a:srgbClr val="1F2A3D"/>
                </a:solidFill>
                <a:latin typeface="Calibri"/>
              </a:defRPr>
            </a:pPr>
            <a:r>
              <a:t>Produksi gula 24/7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2148840"/>
            <a:ext cx="45720" cy="1828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114800" y="2286000"/>
            <a:ext cx="178308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A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0" y="2286000"/>
            <a:ext cx="1783080" cy="502920"/>
          </a:xfrm>
          <a:prstGeom prst="rect">
            <a:avLst/>
          </a:prstGeom>
          <a:solidFill>
            <a:srgbClr val="E8A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0" y="2331720"/>
            <a:ext cx="17830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Instalasi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2926080"/>
            <a:ext cx="1600200" cy="1371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1100" b="0">
                <a:solidFill>
                  <a:srgbClr val="1F2A3D"/>
                </a:solidFill>
                <a:latin typeface="Calibri"/>
              </a:defRPr>
            </a:pPr>
            <a:r>
              <a:t>Mesin, boiler, listrik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2148840"/>
            <a:ext cx="45720" cy="1828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989320" y="2286000"/>
            <a:ext cx="178308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89320" y="2286000"/>
            <a:ext cx="1783080" cy="5029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89320" y="2331720"/>
            <a:ext cx="17830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Keuangan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2926080"/>
            <a:ext cx="1600200" cy="1371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1100" b="0">
                <a:solidFill>
                  <a:srgbClr val="1F2A3D"/>
                </a:solidFill>
                <a:latin typeface="Calibri"/>
              </a:defRPr>
            </a:pPr>
            <a:r>
              <a:t>Cash flow &amp; report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32520" y="2148840"/>
            <a:ext cx="45720" cy="1828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863840" y="2286000"/>
            <a:ext cx="178308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863840" y="2286000"/>
            <a:ext cx="178308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0" y="2331720"/>
            <a:ext cx="17830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SDM &amp; Umum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80" y="2926080"/>
            <a:ext cx="1600200" cy="1371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1100" b="0">
                <a:solidFill>
                  <a:srgbClr val="1F2A3D"/>
                </a:solidFill>
                <a:latin typeface="Calibri"/>
              </a:defRPr>
            </a:pPr>
            <a:r>
              <a:t>HR, K3, security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607040" y="2148840"/>
            <a:ext cx="45720" cy="1828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738360" y="2286000"/>
            <a:ext cx="178308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738360" y="2286000"/>
            <a:ext cx="1783080" cy="502920"/>
          </a:xfrm>
          <a:prstGeom prst="rect">
            <a:avLst/>
          </a:prstGeom>
          <a:solidFill>
            <a:srgbClr val="555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38360" y="2331720"/>
            <a:ext cx="17830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Pemasaran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29800" y="2926080"/>
            <a:ext cx="1600200" cy="1371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1100" b="0">
                <a:solidFill>
                  <a:srgbClr val="1F2A3D"/>
                </a:solidFill>
                <a:latin typeface="Calibri"/>
              </a:defRPr>
            </a:pPr>
            <a:r>
              <a:t>Sales &amp; distribusi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4937760"/>
            <a:ext cx="11247120" cy="1371600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50749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300" b="1">
                <a:solidFill>
                  <a:srgbClr val="008C99"/>
                </a:solidFill>
                <a:latin typeface="Calibri"/>
              </a:defRPr>
            </a:pPr>
            <a:r>
              <a:t>🔄  Karakteristik Operasional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440680"/>
            <a:ext cx="105156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1F2A3D"/>
                </a:solidFill>
                <a:latin typeface="Calibri"/>
              </a:defRPr>
            </a:pPr>
            <a:r>
              <a:t>• Operasi 24/7 hanya saat musim giling (April–November)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5733288"/>
            <a:ext cx="105156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1F2A3D"/>
                </a:solidFill>
                <a:latin typeface="Calibri"/>
              </a:defRPr>
            </a:pPr>
            <a:r>
              <a:t>• Shift 3×8 jam: kontinu, tidak boleh berhenti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6025896"/>
            <a:ext cx="105156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1F2A3D"/>
                </a:solidFill>
                <a:latin typeface="Calibri"/>
              </a:defRPr>
            </a:pPr>
            <a:r>
              <a:t>• Off-season: maintenance, overhaul, dan persiapan musim berikutnya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91695" cy="45720"/>
          </a:xfrm>
          <a:prstGeom prst="rect">
            <a:avLst/>
          </a:prstGeom>
          <a:solidFill>
            <a:srgbClr val="E8A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KPI Dasar yang Harus Dimonitor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"/>
            <a:ext cx="11887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10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47688"/>
            <a:ext cx="109728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900" b="0">
                <a:solidFill>
                  <a:srgbClr val="555B6E"/>
                </a:solidFill>
                <a:latin typeface="Calibri"/>
              </a:defRPr>
            </a:pPr>
            <a:r>
              <a:t>Overview Alur Bisnis Pabrik Gula  |  Internal 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005840"/>
            <a:ext cx="37033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005840"/>
            <a:ext cx="3703320" cy="457200"/>
          </a:xfrm>
          <a:prstGeom prst="rect">
            <a:avLst/>
          </a:prstGeom>
          <a:solidFill>
            <a:srgbClr val="E8A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051560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Rendemen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00200"/>
            <a:ext cx="333756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800" b="1">
                <a:solidFill>
                  <a:srgbClr val="0B2A4A"/>
                </a:solidFill>
                <a:latin typeface="Calibri"/>
              </a:defRPr>
            </a:pPr>
            <a:r>
              <a:t>8–10%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77440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00" b="1">
                <a:solidFill>
                  <a:srgbClr val="008C99"/>
                </a:solidFill>
                <a:latin typeface="Calibri"/>
              </a:defRPr>
            </a:pPr>
            <a:r>
              <a:t>📐  Gula ÷ Tebu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97480"/>
            <a:ext cx="3337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00" b="0">
                <a:solidFill>
                  <a:srgbClr val="555B6E"/>
                </a:solidFill>
                <a:latin typeface="Calibri"/>
              </a:defRPr>
            </a:pPr>
            <a:r>
              <a:t>Indikator efisiensi total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005840"/>
            <a:ext cx="37033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005840"/>
            <a:ext cx="3703320" cy="457200"/>
          </a:xfrm>
          <a:prstGeom prst="rect">
            <a:avLst/>
          </a:prstGeom>
          <a:solidFill>
            <a:srgbClr val="008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051560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Recovery Pol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600200"/>
            <a:ext cx="333756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800" b="1">
                <a:solidFill>
                  <a:srgbClr val="0B2A4A"/>
                </a:solidFill>
                <a:latin typeface="Calibri"/>
              </a:defRPr>
            </a:pPr>
            <a:r>
              <a:t>92–96%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377440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00" b="1">
                <a:solidFill>
                  <a:srgbClr val="008C99"/>
                </a:solidFill>
                <a:latin typeface="Calibri"/>
              </a:defRPr>
            </a:pPr>
            <a:r>
              <a:t>📐  Pol terekstrak / Pol tebu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697480"/>
            <a:ext cx="3337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00" b="0">
                <a:solidFill>
                  <a:srgbClr val="555B6E"/>
                </a:solidFill>
                <a:latin typeface="Calibri"/>
              </a:defRPr>
            </a:pPr>
            <a:r>
              <a:t>Efektivitas ekstraksi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005840"/>
            <a:ext cx="37033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1005840"/>
            <a:ext cx="370332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1051560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Kapasitas Giling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1600200"/>
            <a:ext cx="333756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800" b="1">
                <a:solidFill>
                  <a:srgbClr val="0B2A4A"/>
                </a:solidFill>
                <a:latin typeface="Calibri"/>
              </a:defRPr>
            </a:pPr>
            <a:r>
              <a:t>3.000–6.000 TCD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377440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00" b="1">
                <a:solidFill>
                  <a:srgbClr val="008C99"/>
                </a:solidFill>
                <a:latin typeface="Calibri"/>
              </a:defRPr>
            </a:pPr>
            <a:r>
              <a:t>📐  Ton tebu / hari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697480"/>
            <a:ext cx="3337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00" b="0">
                <a:solidFill>
                  <a:srgbClr val="555B6E"/>
                </a:solidFill>
                <a:latin typeface="Calibri"/>
              </a:defRPr>
            </a:pPr>
            <a:r>
              <a:t>Throughput pabrik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3410712"/>
            <a:ext cx="37033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3410712"/>
            <a:ext cx="3703320" cy="4572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3456432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Efisiensi (OEE)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005072"/>
            <a:ext cx="333756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800" b="1">
                <a:solidFill>
                  <a:srgbClr val="0B2A4A"/>
                </a:solidFill>
                <a:latin typeface="Calibri"/>
              </a:defRPr>
            </a:pPr>
            <a:r>
              <a:t>&gt;85%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4782312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00" b="1">
                <a:solidFill>
                  <a:srgbClr val="008C99"/>
                </a:solidFill>
                <a:latin typeface="Calibri"/>
              </a:defRPr>
            </a:pPr>
            <a:r>
              <a:t>📐  Uptime mesin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102352"/>
            <a:ext cx="3337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00" b="0">
                <a:solidFill>
                  <a:srgbClr val="555B6E"/>
                </a:solidFill>
                <a:latin typeface="Calibri"/>
              </a:defRPr>
            </a:pPr>
            <a:r>
              <a:t>Reliability operasi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51960" y="3410712"/>
            <a:ext cx="37033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51960" y="3410712"/>
            <a:ext cx="370332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40" y="3456432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Pol Losses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4005072"/>
            <a:ext cx="333756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800" b="1">
                <a:solidFill>
                  <a:srgbClr val="0B2A4A"/>
                </a:solidFill>
                <a:latin typeface="Calibri"/>
              </a:defRPr>
            </a:pPr>
            <a:r>
              <a:t>&lt;2,5%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4782312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00" b="1">
                <a:solidFill>
                  <a:srgbClr val="008C99"/>
                </a:solidFill>
                <a:latin typeface="Calibri"/>
              </a:defRPr>
            </a:pPr>
            <a:r>
              <a:t>📐  Gula hilang di proses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5102352"/>
            <a:ext cx="3337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00" b="0">
                <a:solidFill>
                  <a:srgbClr val="555B6E"/>
                </a:solidFill>
                <a:latin typeface="Calibri"/>
              </a:defRPr>
            </a:pPr>
            <a:r>
              <a:t>Kontrol kebocoran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92440" y="3410712"/>
            <a:ext cx="37033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92440" y="3410712"/>
            <a:ext cx="3703320" cy="457200"/>
          </a:xfrm>
          <a:prstGeom prst="rect">
            <a:avLst/>
          </a:prstGeom>
          <a:solidFill>
            <a:srgbClr val="555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75320" y="3456432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HPP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4005072"/>
            <a:ext cx="333756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800" b="1">
                <a:solidFill>
                  <a:srgbClr val="0B2A4A"/>
                </a:solidFill>
                <a:latin typeface="Calibri"/>
              </a:defRPr>
            </a:pPr>
            <a:r>
              <a:t>Rp 9–11 rb /kg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20" y="4782312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00" b="1">
                <a:solidFill>
                  <a:srgbClr val="008C99"/>
                </a:solidFill>
                <a:latin typeface="Calibri"/>
              </a:defRPr>
            </a:pPr>
            <a:r>
              <a:t>📐  Cost per kg gula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20" y="5102352"/>
            <a:ext cx="3337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00" b="0">
                <a:solidFill>
                  <a:srgbClr val="555B6E"/>
                </a:solidFill>
                <a:latin typeface="Calibri"/>
              </a:defRPr>
            </a:pPr>
            <a:r>
              <a:t>Sehat secara finansial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1480" y="5806440"/>
            <a:ext cx="11338560" cy="68580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897880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🎯  Aturan jempol: rendemen +1% bisa naikkan profit double-digit. Itulah sebabnya rendemen jadi 'KPI raja'.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91695" cy="45720"/>
          </a:xfrm>
          <a:prstGeom prst="rect">
            <a:avLst/>
          </a:prstGeom>
          <a:solidFill>
            <a:srgbClr val="E8A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Bottleneck Operasional &amp; Mitigasi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"/>
            <a:ext cx="11887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11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47688"/>
            <a:ext cx="109728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900" b="0">
                <a:solidFill>
                  <a:srgbClr val="555B6E"/>
                </a:solidFill>
                <a:latin typeface="Calibri"/>
              </a:defRPr>
            </a:pPr>
            <a:r>
              <a:t>Overview Alur Bisnis Pabrik Gula  |  Internal Use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960120"/>
            <a:ext cx="11338560" cy="4114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960120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Bottleneck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960120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Dampak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960120"/>
            <a:ext cx="493776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Mitigasi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417320"/>
            <a:ext cx="11338560" cy="71323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8640" y="1664208"/>
            <a:ext cx="228600" cy="2286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1417320"/>
            <a:ext cx="274320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1300" b="1">
                <a:solidFill>
                  <a:srgbClr val="0B2A4A"/>
                </a:solidFill>
                <a:latin typeface="Calibri"/>
              </a:defRPr>
            </a:pPr>
            <a:r>
              <a:t>Kualitas tebu rendah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1417320"/>
            <a:ext cx="301752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1200" b="0">
                <a:solidFill>
                  <a:srgbClr val="555B6E"/>
                </a:solidFill>
                <a:latin typeface="Calibri"/>
              </a:defRPr>
            </a:pPr>
            <a:r>
              <a:t>Pol &lt; 8%, kotoran tinggi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1417320"/>
            <a:ext cx="466344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1200" b="1">
                <a:solidFill>
                  <a:srgbClr val="2E8B57"/>
                </a:solidFill>
                <a:latin typeface="Calibri"/>
              </a:defRPr>
            </a:pPr>
            <a:r>
              <a:t>✓ Pilih varietas unggul, QC ketat di emplasement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130552"/>
            <a:ext cx="113385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48640" y="2377440"/>
            <a:ext cx="228600" cy="2286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2130552"/>
            <a:ext cx="274320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1300" b="1">
                <a:solidFill>
                  <a:srgbClr val="0B2A4A"/>
                </a:solidFill>
                <a:latin typeface="Calibri"/>
              </a:defRPr>
            </a:pPr>
            <a:r>
              <a:t>Breakdown mesin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2130552"/>
            <a:ext cx="301752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1200" b="0">
                <a:solidFill>
                  <a:srgbClr val="555B6E"/>
                </a:solidFill>
                <a:latin typeface="Calibri"/>
              </a:defRPr>
            </a:pPr>
            <a:r>
              <a:t>Gilingan/boiler stop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130552"/>
            <a:ext cx="466344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1200" b="1">
                <a:solidFill>
                  <a:srgbClr val="2E8B57"/>
                </a:solidFill>
                <a:latin typeface="Calibri"/>
              </a:defRPr>
            </a:pPr>
            <a:r>
              <a:t>✓ Preventive maintenance &amp; spare parts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2843784"/>
            <a:ext cx="11338560" cy="71323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48640" y="3090672"/>
            <a:ext cx="228600" cy="2286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2843784"/>
            <a:ext cx="274320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1300" b="1">
                <a:solidFill>
                  <a:srgbClr val="0B2A4A"/>
                </a:solidFill>
                <a:latin typeface="Calibri"/>
              </a:defRPr>
            </a:pPr>
            <a:r>
              <a:t>Antrian tebu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2843784"/>
            <a:ext cx="301752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1200" b="0">
                <a:solidFill>
                  <a:srgbClr val="555B6E"/>
                </a:solidFill>
                <a:latin typeface="Calibri"/>
              </a:defRPr>
            </a:pPr>
            <a:r>
              <a:t>Tebu menua (&gt;24 jam)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2843784"/>
            <a:ext cx="466344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1200" b="1">
                <a:solidFill>
                  <a:srgbClr val="2E8B57"/>
                </a:solidFill>
                <a:latin typeface="Calibri"/>
              </a:defRPr>
            </a:pPr>
            <a:r>
              <a:t>✓ Koordinasi tebang-angkut, buffer stock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557016"/>
            <a:ext cx="113385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48640" y="3803904"/>
            <a:ext cx="228600" cy="2286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3557016"/>
            <a:ext cx="274320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1300" b="1">
                <a:solidFill>
                  <a:srgbClr val="0B2A4A"/>
                </a:solidFill>
                <a:latin typeface="Calibri"/>
              </a:defRPr>
            </a:pPr>
            <a:r>
              <a:t>Cuaca buruk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557016"/>
            <a:ext cx="301752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1200" b="0">
                <a:solidFill>
                  <a:srgbClr val="555B6E"/>
                </a:solidFill>
                <a:latin typeface="Calibri"/>
              </a:defRPr>
            </a:pPr>
            <a:r>
              <a:t>Hujan → tebu basah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3557016"/>
            <a:ext cx="466344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1200" b="1">
                <a:solidFill>
                  <a:srgbClr val="2E8B57"/>
                </a:solidFill>
                <a:latin typeface="Calibri"/>
              </a:defRPr>
            </a:pPr>
            <a:r>
              <a:t>✓ Perencanaan tebang berbasis cuaca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4270248"/>
            <a:ext cx="11338560" cy="71323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48640" y="4517136"/>
            <a:ext cx="228600" cy="2286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4270248"/>
            <a:ext cx="274320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1300" b="1">
                <a:solidFill>
                  <a:srgbClr val="0B2A4A"/>
                </a:solidFill>
                <a:latin typeface="Calibri"/>
              </a:defRPr>
            </a:pPr>
            <a:r>
              <a:t>SDM terampil terbatas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94760" y="4270248"/>
            <a:ext cx="301752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1200" b="0">
                <a:solidFill>
                  <a:srgbClr val="555B6E"/>
                </a:solidFill>
                <a:latin typeface="Calibri"/>
              </a:defRPr>
            </a:pPr>
            <a:r>
              <a:t>Operator senior pensiun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4270248"/>
            <a:ext cx="466344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1200" b="1">
                <a:solidFill>
                  <a:srgbClr val="2E8B57"/>
                </a:solidFill>
                <a:latin typeface="Calibri"/>
              </a:defRPr>
            </a:pPr>
            <a:r>
              <a:t>✓ Training internal &amp; sertifikasi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4983480"/>
            <a:ext cx="113385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48640" y="5230368"/>
            <a:ext cx="228600" cy="2286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4983480"/>
            <a:ext cx="274320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1300" b="1">
                <a:solidFill>
                  <a:srgbClr val="0B2A4A"/>
                </a:solidFill>
                <a:latin typeface="Calibri"/>
              </a:defRPr>
            </a:pPr>
            <a:r>
              <a:t>Kapasitas terbatas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94760" y="4983480"/>
            <a:ext cx="301752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1200" b="0">
                <a:solidFill>
                  <a:srgbClr val="555B6E"/>
                </a:solidFill>
                <a:latin typeface="Calibri"/>
              </a:defRPr>
            </a:pPr>
            <a:r>
              <a:t>Demand &gt; supply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60" y="4983480"/>
            <a:ext cx="466344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1200" b="1">
                <a:solidFill>
                  <a:srgbClr val="2E8B57"/>
                </a:solidFill>
                <a:latin typeface="Calibri"/>
              </a:defRPr>
            </a:pPr>
            <a:r>
              <a:t>✓ Debottlenecking &amp; investasi bertahap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5696712"/>
            <a:ext cx="11338560" cy="457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91695" cy="45720"/>
          </a:xfrm>
          <a:prstGeom prst="rect">
            <a:avLst/>
          </a:prstGeom>
          <a:solidFill>
            <a:srgbClr val="E8A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Tantangan Industri Gula Indonesia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"/>
            <a:ext cx="11887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12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47688"/>
            <a:ext cx="109728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900" b="0">
                <a:solidFill>
                  <a:srgbClr val="555B6E"/>
                </a:solidFill>
                <a:latin typeface="Calibri"/>
              </a:defRPr>
            </a:pPr>
            <a:r>
              <a:t>Overview Alur Bisnis Pabrik Gula  |  Internal 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005840"/>
            <a:ext cx="37033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005840"/>
            <a:ext cx="3703320" cy="91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8016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3200" b="0">
                <a:solidFill>
                  <a:srgbClr val="C0392B"/>
                </a:solidFill>
                <a:latin typeface="Calibri"/>
              </a:defRPr>
            </a:pPr>
            <a:r>
              <a:t>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325880"/>
            <a:ext cx="24231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600" b="1">
                <a:solidFill>
                  <a:srgbClr val="0B2A4A"/>
                </a:solidFill>
                <a:latin typeface="Calibri"/>
              </a:defRPr>
            </a:pPr>
            <a:r>
              <a:t>Produktivitas Rendah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194560"/>
            <a:ext cx="324612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1F2A3D"/>
                </a:solidFill>
                <a:latin typeface="Calibri"/>
              </a:defRPr>
            </a:pPr>
            <a:r>
              <a:t>Rendemen RI 6–8% vs Thailand 10–12%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005840"/>
            <a:ext cx="37033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1005840"/>
            <a:ext cx="3703320" cy="91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28016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3200" b="0">
                <a:solidFill>
                  <a:srgbClr val="C0392B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1325880"/>
            <a:ext cx="24231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600" b="1">
                <a:solidFill>
                  <a:srgbClr val="0B2A4A"/>
                </a:solidFill>
                <a:latin typeface="Calibri"/>
              </a:defRPr>
            </a:pPr>
            <a:r>
              <a:t>Impor Tinggi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194560"/>
            <a:ext cx="324612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1F2A3D"/>
                </a:solidFill>
                <a:latin typeface="Calibri"/>
              </a:defRPr>
            </a:pPr>
            <a:r>
              <a:t>~50% kebutuhan dipenuhi impor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005840"/>
            <a:ext cx="37033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005840"/>
            <a:ext cx="3703320" cy="91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128016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3200" b="0">
                <a:solidFill>
                  <a:srgbClr val="C0392B"/>
                </a:solidFill>
                <a:latin typeface="Calibri"/>
              </a:defRPr>
            </a:pPr>
            <a:r>
              <a:t>⚙️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1325880"/>
            <a:ext cx="24231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600" b="1">
                <a:solidFill>
                  <a:srgbClr val="0B2A4A"/>
                </a:solidFill>
                <a:latin typeface="Calibri"/>
              </a:defRPr>
            </a:pPr>
            <a:r>
              <a:t>Teknologi Tua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194560"/>
            <a:ext cx="324612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1F2A3D"/>
                </a:solidFill>
                <a:latin typeface="Calibri"/>
              </a:defRPr>
            </a:pPr>
            <a:r>
              <a:t>Banyak mesin pabrik berusia &gt;30 tahun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3474720"/>
            <a:ext cx="37033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3474720"/>
            <a:ext cx="3703320" cy="91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74904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3200" b="0">
                <a:solidFill>
                  <a:srgbClr val="C0392B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3794760"/>
            <a:ext cx="24231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600" b="1">
                <a:solidFill>
                  <a:srgbClr val="0B2A4A"/>
                </a:solidFill>
                <a:latin typeface="Calibri"/>
              </a:defRPr>
            </a:pPr>
            <a:r>
              <a:t>Margin Tipis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663440"/>
            <a:ext cx="324612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1F2A3D"/>
                </a:solidFill>
                <a:latin typeface="Calibri"/>
              </a:defRPr>
            </a:pPr>
            <a:r>
              <a:t>HPP tinggi vs harga jual terkontrol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51960" y="3474720"/>
            <a:ext cx="37033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51960" y="3474720"/>
            <a:ext cx="3703320" cy="91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80" y="374904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3200" b="0">
                <a:solidFill>
                  <a:srgbClr val="C0392B"/>
                </a:solidFill>
                <a:latin typeface="Calibri"/>
              </a:defRPr>
            </a:pPr>
            <a:r>
              <a:t>🌦️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3794760"/>
            <a:ext cx="24231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600" b="1">
                <a:solidFill>
                  <a:srgbClr val="0B2A4A"/>
                </a:solidFill>
                <a:latin typeface="Calibri"/>
              </a:defRPr>
            </a:pPr>
            <a:r>
              <a:t>Risiko Iklim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4663440"/>
            <a:ext cx="324612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1F2A3D"/>
                </a:solidFill>
                <a:latin typeface="Calibri"/>
              </a:defRPr>
            </a:pPr>
            <a:r>
              <a:t>El Niño/La Niña ganggu jadwal giling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92440" y="3474720"/>
            <a:ext cx="37033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92440" y="3474720"/>
            <a:ext cx="3703320" cy="91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6760" y="374904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3200" b="0">
                <a:solidFill>
                  <a:srgbClr val="C0392B"/>
                </a:solidFill>
                <a:latin typeface="Calibri"/>
              </a:defRPr>
            </a:pPr>
            <a:r>
              <a:t>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3794760"/>
            <a:ext cx="24231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600" b="1">
                <a:solidFill>
                  <a:srgbClr val="0B2A4A"/>
                </a:solidFill>
                <a:latin typeface="Calibri"/>
              </a:defRPr>
            </a:pPr>
            <a:r>
              <a:t>Regenerasi Petani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4663440"/>
            <a:ext cx="324612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1F2A3D"/>
                </a:solidFill>
                <a:latin typeface="Calibri"/>
              </a:defRPr>
            </a:pPr>
            <a:r>
              <a:t>Generasi muda kurang minat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91695" cy="45720"/>
          </a:xfrm>
          <a:prstGeom prst="rect">
            <a:avLst/>
          </a:prstGeom>
          <a:solidFill>
            <a:srgbClr val="E8A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Peluang Improvement &amp; Modernisasi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"/>
            <a:ext cx="11887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13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47688"/>
            <a:ext cx="109728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900" b="0">
                <a:solidFill>
                  <a:srgbClr val="555B6E"/>
                </a:solidFill>
                <a:latin typeface="Calibri"/>
              </a:defRPr>
            </a:pPr>
            <a:r>
              <a:t>Overview Alur Bisnis Pabrik Gula  |  Internal 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11247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05840"/>
            <a:ext cx="164592" cy="960120"/>
          </a:xfrm>
          <a:prstGeom prst="rect">
            <a:avLst/>
          </a:prstGeom>
          <a:solidFill>
            <a:srgbClr val="008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1252728"/>
            <a:ext cx="457200" cy="457200"/>
          </a:xfrm>
          <a:prstGeom prst="ellipse">
            <a:avLst/>
          </a:prstGeom>
          <a:solidFill>
            <a:srgbClr val="008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252728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097280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600" b="1">
                <a:solidFill>
                  <a:srgbClr val="0B2A4A"/>
                </a:solidFill>
                <a:latin typeface="Calibri"/>
              </a:defRPr>
            </a:pPr>
            <a:r>
              <a:t>Digitalisasi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508760"/>
            <a:ext cx="6400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555B6E"/>
                </a:solidFill>
                <a:latin typeface="Calibri"/>
              </a:defRPr>
            </a:pPr>
            <a:r>
              <a:t>IoT sensor, SCADA real-time, AI optimasi proses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1280160"/>
            <a:ext cx="2834640" cy="411480"/>
          </a:xfrm>
          <a:prstGeom prst="roundRect">
            <a:avLst/>
          </a:prstGeom>
          <a:solidFill>
            <a:srgbClr val="008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1280160"/>
            <a:ext cx="28346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💡  +10–15% efisiensi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057400"/>
            <a:ext cx="11247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057400"/>
            <a:ext cx="164592" cy="960120"/>
          </a:xfrm>
          <a:prstGeom prst="rect">
            <a:avLst/>
          </a:prstGeom>
          <a:solidFill>
            <a:srgbClr val="E8A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7240" y="2304288"/>
            <a:ext cx="457200" cy="457200"/>
          </a:xfrm>
          <a:prstGeom prst="ellipse">
            <a:avLst/>
          </a:prstGeom>
          <a:solidFill>
            <a:srgbClr val="E8A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304288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2148840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600" b="1">
                <a:solidFill>
                  <a:srgbClr val="0B2A4A"/>
                </a:solidFill>
                <a:latin typeface="Calibri"/>
              </a:defRPr>
            </a:pPr>
            <a:r>
              <a:t>Modernisasi Mesin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2560320"/>
            <a:ext cx="6400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555B6E"/>
                </a:solidFill>
                <a:latin typeface="Calibri"/>
              </a:defRPr>
            </a:pPr>
            <a:r>
              <a:t>Boiler high-pressure, continuous crystallizer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2331720"/>
            <a:ext cx="2834640" cy="411480"/>
          </a:xfrm>
          <a:prstGeom prst="roundRect">
            <a:avLst/>
          </a:prstGeom>
          <a:solidFill>
            <a:srgbClr val="E8A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2331720"/>
            <a:ext cx="28346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💡  +1–2% rendemen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108960"/>
            <a:ext cx="11247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108960"/>
            <a:ext cx="164592" cy="9601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77240" y="3355848"/>
            <a:ext cx="457200" cy="4572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355848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3200400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600" b="1">
                <a:solidFill>
                  <a:srgbClr val="0B2A4A"/>
                </a:solidFill>
                <a:latin typeface="Calibri"/>
              </a:defRPr>
            </a:pPr>
            <a:r>
              <a:t>Co-generation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3611880"/>
            <a:ext cx="6400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555B6E"/>
                </a:solidFill>
                <a:latin typeface="Calibri"/>
              </a:defRPr>
            </a:pPr>
            <a:r>
              <a:t>Jual surplus listrik ke PLN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0" y="3383280"/>
            <a:ext cx="2834640" cy="41148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0" y="3383280"/>
            <a:ext cx="28346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💡  +5–10% revenue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160520"/>
            <a:ext cx="11247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4160520"/>
            <a:ext cx="164592" cy="9601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7240" y="4407408"/>
            <a:ext cx="457200" cy="457200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4407408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7320" y="4251960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600" b="1">
                <a:solidFill>
                  <a:srgbClr val="0B2A4A"/>
                </a:solidFill>
                <a:latin typeface="Calibri"/>
              </a:defRPr>
            </a:pPr>
            <a:r>
              <a:t>Diversifikasi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20" y="4663440"/>
            <a:ext cx="6400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555B6E"/>
                </a:solidFill>
                <a:latin typeface="Calibri"/>
              </a:defRPr>
            </a:pPr>
            <a:r>
              <a:t>Bioetanol, refined sugar, pellet bagasse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6800" y="4434840"/>
            <a:ext cx="2834640" cy="41148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0" y="4434840"/>
            <a:ext cx="28346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💡  +15–25% revenue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212080"/>
            <a:ext cx="11247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5212080"/>
            <a:ext cx="164592" cy="9601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77240" y="5458968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5458968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5303520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600" b="1">
                <a:solidFill>
                  <a:srgbClr val="0B2A4A"/>
                </a:solidFill>
                <a:latin typeface="Calibri"/>
              </a:defRPr>
            </a:pPr>
            <a:r>
              <a:t>Backward Integration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17320" y="5715000"/>
            <a:ext cx="6400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555B6E"/>
                </a:solidFill>
                <a:latin typeface="Calibri"/>
              </a:defRPr>
            </a:pPr>
            <a:r>
              <a:t>Petani mitra, varietas unggul, precision farming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86800" y="5486400"/>
            <a:ext cx="2834640" cy="41148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86800" y="5486400"/>
            <a:ext cx="28346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💡  Kualitas tebu konsisten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6309360"/>
            <a:ext cx="11247120" cy="54864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630936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Total potensi peningkatan EBITDA: 20–30% jika diimplementasikan bertahap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91695" cy="45720"/>
          </a:xfrm>
          <a:prstGeom prst="rect">
            <a:avLst/>
          </a:prstGeom>
          <a:solidFill>
            <a:srgbClr val="E8A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Bagaimana Pabrik Gula Menghasilkan Uang?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"/>
            <a:ext cx="11887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14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47688"/>
            <a:ext cx="109728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900" b="0">
                <a:solidFill>
                  <a:srgbClr val="555B6E"/>
                </a:solidFill>
                <a:latin typeface="Calibri"/>
              </a:defRPr>
            </a:pPr>
            <a:r>
              <a:t>Overview Alur Bisnis Pabrik Gula  |  Internal 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600" b="1">
                <a:solidFill>
                  <a:srgbClr val="0B2A4A"/>
                </a:solidFill>
                <a:latin typeface="Calibri"/>
              </a:defRPr>
            </a:pPr>
            <a:r>
              <a:t>Komposisi Revenue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7543800" cy="640080"/>
          </a:xfrm>
          <a:prstGeom prst="roundRect">
            <a:avLst/>
          </a:prstGeom>
          <a:solidFill>
            <a:srgbClr val="E8A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92440" y="1554480"/>
            <a:ext cx="1207008" cy="640080"/>
          </a:xfrm>
          <a:prstGeom prst="rect">
            <a:avLst/>
          </a:prstGeom>
          <a:solidFill>
            <a:srgbClr val="008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299448" y="1554480"/>
            <a:ext cx="804672" cy="64008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04120" y="1554480"/>
            <a:ext cx="502920" cy="640080"/>
          </a:xfrm>
          <a:prstGeom prst="rect">
            <a:avLst/>
          </a:prstGeom>
          <a:solidFill>
            <a:srgbClr val="555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286000"/>
            <a:ext cx="274320" cy="274320"/>
          </a:xfrm>
          <a:prstGeom prst="rect">
            <a:avLst/>
          </a:prstGeom>
          <a:solidFill>
            <a:srgbClr val="E8A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286000"/>
            <a:ext cx="21945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1200" b="1">
                <a:solidFill>
                  <a:srgbClr val="1F2A3D"/>
                </a:solidFill>
                <a:latin typeface="Calibri"/>
              </a:defRPr>
            </a:pPr>
            <a:r>
              <a:t>Gula: 75%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2286000"/>
            <a:ext cx="274320" cy="274320"/>
          </a:xfrm>
          <a:prstGeom prst="rect">
            <a:avLst/>
          </a:prstGeom>
          <a:solidFill>
            <a:srgbClr val="008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286000"/>
            <a:ext cx="21945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1200" b="1">
                <a:solidFill>
                  <a:srgbClr val="1F2A3D"/>
                </a:solidFill>
                <a:latin typeface="Calibri"/>
              </a:defRPr>
            </a:pPr>
            <a:r>
              <a:t>Molasses: 12%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0" y="2286000"/>
            <a:ext cx="274320" cy="2743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2286000"/>
            <a:ext cx="21945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1200" b="1">
                <a:solidFill>
                  <a:srgbClr val="1F2A3D"/>
                </a:solidFill>
                <a:latin typeface="Calibri"/>
              </a:defRPr>
            </a:pPr>
            <a:r>
              <a:t>Listrik: 8%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2286000"/>
            <a:ext cx="274320" cy="274320"/>
          </a:xfrm>
          <a:prstGeom prst="rect">
            <a:avLst/>
          </a:prstGeom>
          <a:solidFill>
            <a:srgbClr val="555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0" y="2286000"/>
            <a:ext cx="21945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1200" b="1">
                <a:solidFill>
                  <a:srgbClr val="1F2A3D"/>
                </a:solidFill>
                <a:latin typeface="Calibri"/>
              </a:defRPr>
            </a:pPr>
            <a:r>
              <a:t>Lainnya: 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01752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600" b="1">
                <a:solidFill>
                  <a:srgbClr val="0B2A4A"/>
                </a:solidFill>
                <a:latin typeface="Calibri"/>
              </a:defRPr>
            </a:pPr>
            <a:r>
              <a:t>Komposisi Biaya (HPP)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566160"/>
            <a:ext cx="5532120" cy="64008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80760" y="3566160"/>
            <a:ext cx="2212848" cy="640080"/>
          </a:xfrm>
          <a:prstGeom prst="rect">
            <a:avLst/>
          </a:prstGeom>
          <a:solidFill>
            <a:srgbClr val="E8A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93608" y="3566160"/>
            <a:ext cx="1307592" cy="640080"/>
          </a:xfrm>
          <a:prstGeom prst="rect">
            <a:avLst/>
          </a:prstGeom>
          <a:solidFill>
            <a:srgbClr val="008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3566160"/>
            <a:ext cx="1005840" cy="64008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297680"/>
            <a:ext cx="27432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297680"/>
            <a:ext cx="21945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1200" b="1">
                <a:solidFill>
                  <a:srgbClr val="1F2A3D"/>
                </a:solidFill>
                <a:latin typeface="Calibri"/>
              </a:defRPr>
            </a:pPr>
            <a:r>
              <a:t>Bahan baku tebu: 55%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08960" y="4297680"/>
            <a:ext cx="274320" cy="274320"/>
          </a:xfrm>
          <a:prstGeom prst="rect">
            <a:avLst/>
          </a:prstGeom>
          <a:solidFill>
            <a:srgbClr val="E8A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0" y="4297680"/>
            <a:ext cx="21945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1200" b="1">
                <a:solidFill>
                  <a:srgbClr val="1F2A3D"/>
                </a:solidFill>
                <a:latin typeface="Calibri"/>
              </a:defRPr>
            </a:pPr>
            <a:r>
              <a:t>Operasional &amp; energi: 22%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0" y="4297680"/>
            <a:ext cx="274320" cy="274320"/>
          </a:xfrm>
          <a:prstGeom prst="rect">
            <a:avLst/>
          </a:prstGeom>
          <a:solidFill>
            <a:srgbClr val="008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0" y="4297680"/>
            <a:ext cx="21945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1200" b="1">
                <a:solidFill>
                  <a:srgbClr val="1F2A3D"/>
                </a:solidFill>
                <a:latin typeface="Calibri"/>
              </a:defRPr>
            </a:pPr>
            <a:r>
              <a:t>SDM &amp; overhead: 13%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4297680"/>
            <a:ext cx="274320" cy="2743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0" y="4297680"/>
            <a:ext cx="21945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1200" b="1">
                <a:solidFill>
                  <a:srgbClr val="1F2A3D"/>
                </a:solidFill>
                <a:latin typeface="Calibri"/>
              </a:defRPr>
            </a:pPr>
            <a:r>
              <a:t>Maintenance: 10%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120640"/>
            <a:ext cx="37033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5120640"/>
            <a:ext cx="164592" cy="11887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5257800"/>
            <a:ext cx="3246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1">
                <a:solidFill>
                  <a:srgbClr val="555B6E"/>
                </a:solidFill>
                <a:latin typeface="Calibri"/>
              </a:defRPr>
            </a:pPr>
            <a:r>
              <a:t>Margin EBITDA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623560"/>
            <a:ext cx="3246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000" b="1">
                <a:solidFill>
                  <a:srgbClr val="0B2A4A"/>
                </a:solidFill>
                <a:latin typeface="Calibri"/>
              </a:defRPr>
            </a:pPr>
            <a:r>
              <a:t>15–25%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51960" y="5120640"/>
            <a:ext cx="37033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51960" y="5120640"/>
            <a:ext cx="164592" cy="1188720"/>
          </a:xfrm>
          <a:prstGeom prst="rect">
            <a:avLst/>
          </a:prstGeom>
          <a:solidFill>
            <a:srgbClr val="E8A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17720" y="5257800"/>
            <a:ext cx="3246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1">
                <a:solidFill>
                  <a:srgbClr val="555B6E"/>
                </a:solidFill>
                <a:latin typeface="Calibri"/>
              </a:defRPr>
            </a:pPr>
            <a:r>
              <a:t>Break-even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17720" y="5623560"/>
            <a:ext cx="3246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000" b="1">
                <a:solidFill>
                  <a:srgbClr val="0B2A4A"/>
                </a:solidFill>
                <a:latin typeface="Calibri"/>
              </a:defRPr>
            </a:pPr>
            <a:r>
              <a:t>Rendemen ≥ 7,5%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46720" y="5120640"/>
            <a:ext cx="37033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46720" y="5120640"/>
            <a:ext cx="164592" cy="1188720"/>
          </a:xfrm>
          <a:prstGeom prst="rect">
            <a:avLst/>
          </a:prstGeom>
          <a:solidFill>
            <a:srgbClr val="008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0" y="5257800"/>
            <a:ext cx="3246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1">
                <a:solidFill>
                  <a:srgbClr val="555B6E"/>
                </a:solidFill>
                <a:latin typeface="Calibri"/>
              </a:defRPr>
            </a:pPr>
            <a:r>
              <a:t>Sumber margin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5623560"/>
            <a:ext cx="3246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000" b="1">
                <a:solidFill>
                  <a:srgbClr val="0B2A4A"/>
                </a:solidFill>
                <a:latin typeface="Calibri"/>
              </a:defRPr>
            </a:pPr>
            <a:r>
              <a:t>Rendemen + by-product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91695" cy="45720"/>
          </a:xfrm>
          <a:prstGeom prst="rect">
            <a:avLst/>
          </a:prstGeom>
          <a:solidFill>
            <a:srgbClr val="E8A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Yang Dimonitor Manajemen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"/>
            <a:ext cx="11887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15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47688"/>
            <a:ext cx="109728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900" b="0">
                <a:solidFill>
                  <a:srgbClr val="555B6E"/>
                </a:solidFill>
                <a:latin typeface="Calibri"/>
              </a:defRPr>
            </a:pPr>
            <a:r>
              <a:t>Overview Alur Bisnis Pabrik Gula  |  Internal 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370332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05840"/>
            <a:ext cx="3703320" cy="822960"/>
          </a:xfrm>
          <a:prstGeom prst="rect">
            <a:avLst/>
          </a:prstGeom>
          <a:solidFill>
            <a:srgbClr val="008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143000"/>
            <a:ext cx="914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143000"/>
            <a:ext cx="23317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HARIAN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240280"/>
            <a:ext cx="320040" cy="320040"/>
          </a:xfrm>
          <a:prstGeom prst="ellipse">
            <a:avLst/>
          </a:prstGeom>
          <a:solidFill>
            <a:srgbClr val="F4F6F8"/>
          </a:solidFill>
          <a:ln w="25400">
            <a:solidFill>
              <a:srgbClr val="008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40280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1400" b="1">
                <a:solidFill>
                  <a:srgbClr val="008C99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148840"/>
            <a:ext cx="27889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1300" b="0">
                <a:solidFill>
                  <a:srgbClr val="1F2A3D"/>
                </a:solidFill>
                <a:latin typeface="Calibri"/>
              </a:defRPr>
            </a:pPr>
            <a:r>
              <a:t>Kapasitas giling (TCD)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017520"/>
            <a:ext cx="320040" cy="320040"/>
          </a:xfrm>
          <a:prstGeom prst="ellipse">
            <a:avLst/>
          </a:prstGeom>
          <a:solidFill>
            <a:srgbClr val="F4F6F8"/>
          </a:solidFill>
          <a:ln w="25400">
            <a:solidFill>
              <a:srgbClr val="008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17520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1400" b="1">
                <a:solidFill>
                  <a:srgbClr val="008C99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926080"/>
            <a:ext cx="27889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1300" b="0">
                <a:solidFill>
                  <a:srgbClr val="1F2A3D"/>
                </a:solidFill>
                <a:latin typeface="Calibri"/>
              </a:defRPr>
            </a:pPr>
            <a:r>
              <a:t>Rendemen real-time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794760"/>
            <a:ext cx="320040" cy="320040"/>
          </a:xfrm>
          <a:prstGeom prst="ellipse">
            <a:avLst/>
          </a:prstGeom>
          <a:solidFill>
            <a:srgbClr val="F4F6F8"/>
          </a:solidFill>
          <a:ln w="25400">
            <a:solidFill>
              <a:srgbClr val="008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94760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1400" b="1">
                <a:solidFill>
                  <a:srgbClr val="008C99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703320"/>
            <a:ext cx="27889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1300" b="0">
                <a:solidFill>
                  <a:srgbClr val="1F2A3D"/>
                </a:solidFill>
                <a:latin typeface="Calibri"/>
              </a:defRPr>
            </a:pPr>
            <a:r>
              <a:t>Stok tebu &amp; antrian truk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4572000"/>
            <a:ext cx="320040" cy="320040"/>
          </a:xfrm>
          <a:prstGeom prst="ellipse">
            <a:avLst/>
          </a:prstGeom>
          <a:solidFill>
            <a:srgbClr val="F4F6F8"/>
          </a:solidFill>
          <a:ln w="25400">
            <a:solidFill>
              <a:srgbClr val="008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1400" b="1">
                <a:solidFill>
                  <a:srgbClr val="008C99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480560"/>
            <a:ext cx="27889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1300" b="0">
                <a:solidFill>
                  <a:srgbClr val="1F2A3D"/>
                </a:solidFill>
                <a:latin typeface="Calibri"/>
              </a:defRPr>
            </a:pPr>
            <a:r>
              <a:t>Downtime mesin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1005840"/>
            <a:ext cx="370332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1005840"/>
            <a:ext cx="3703320" cy="822960"/>
          </a:xfrm>
          <a:prstGeom prst="rect">
            <a:avLst/>
          </a:prstGeom>
          <a:solidFill>
            <a:srgbClr val="E8A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1143000"/>
            <a:ext cx="914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1143000"/>
            <a:ext cx="23317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MINGGUAN</a:t>
            </a:r>
          </a:p>
        </p:txBody>
      </p:sp>
      <p:sp>
        <p:nvSpPr>
          <p:cNvPr id="28" name="Oval 27"/>
          <p:cNvSpPr/>
          <p:nvPr/>
        </p:nvSpPr>
        <p:spPr>
          <a:xfrm>
            <a:off x="4572000" y="2240280"/>
            <a:ext cx="320040" cy="320040"/>
          </a:xfrm>
          <a:prstGeom prst="ellipse">
            <a:avLst/>
          </a:prstGeom>
          <a:solidFill>
            <a:srgbClr val="F4F6F8"/>
          </a:solidFill>
          <a:ln w="25400">
            <a:solidFill>
              <a:srgbClr val="E8A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2240280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1400" b="1">
                <a:solidFill>
                  <a:srgbClr val="E8A81C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2148840"/>
            <a:ext cx="27889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1300" b="0">
                <a:solidFill>
                  <a:srgbClr val="1F2A3D"/>
                </a:solidFill>
                <a:latin typeface="Calibri"/>
              </a:defRPr>
            </a:pPr>
            <a:r>
              <a:t>Target vs actual produksi</a:t>
            </a:r>
          </a:p>
        </p:txBody>
      </p:sp>
      <p:sp>
        <p:nvSpPr>
          <p:cNvPr id="31" name="Oval 30"/>
          <p:cNvSpPr/>
          <p:nvPr/>
        </p:nvSpPr>
        <p:spPr>
          <a:xfrm>
            <a:off x="4572000" y="3017520"/>
            <a:ext cx="320040" cy="320040"/>
          </a:xfrm>
          <a:prstGeom prst="ellipse">
            <a:avLst/>
          </a:prstGeom>
          <a:solidFill>
            <a:srgbClr val="F4F6F8"/>
          </a:solidFill>
          <a:ln w="25400">
            <a:solidFill>
              <a:srgbClr val="E8A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3017520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1400" b="1">
                <a:solidFill>
                  <a:srgbClr val="E8A81C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2926080"/>
            <a:ext cx="27889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1300" b="0">
                <a:solidFill>
                  <a:srgbClr val="1F2A3D"/>
                </a:solidFill>
                <a:latin typeface="Calibri"/>
              </a:defRPr>
            </a:pPr>
            <a:r>
              <a:t>Konsumsi bahan pembantu</a:t>
            </a:r>
          </a:p>
        </p:txBody>
      </p:sp>
      <p:sp>
        <p:nvSpPr>
          <p:cNvPr id="34" name="Oval 33"/>
          <p:cNvSpPr/>
          <p:nvPr/>
        </p:nvSpPr>
        <p:spPr>
          <a:xfrm>
            <a:off x="4572000" y="3794760"/>
            <a:ext cx="320040" cy="320040"/>
          </a:xfrm>
          <a:prstGeom prst="ellipse">
            <a:avLst/>
          </a:prstGeom>
          <a:solidFill>
            <a:srgbClr val="F4F6F8"/>
          </a:solidFill>
          <a:ln w="25400">
            <a:solidFill>
              <a:srgbClr val="E8A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0" y="3794760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1400" b="1">
                <a:solidFill>
                  <a:srgbClr val="E8A81C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3703320"/>
            <a:ext cx="27889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1300" b="0">
                <a:solidFill>
                  <a:srgbClr val="1F2A3D"/>
                </a:solidFill>
                <a:latin typeface="Calibri"/>
              </a:defRPr>
            </a:pPr>
            <a:r>
              <a:t>Insiden K3 &amp; near-miss</a:t>
            </a:r>
          </a:p>
        </p:txBody>
      </p:sp>
      <p:sp>
        <p:nvSpPr>
          <p:cNvPr id="37" name="Oval 36"/>
          <p:cNvSpPr/>
          <p:nvPr/>
        </p:nvSpPr>
        <p:spPr>
          <a:xfrm>
            <a:off x="4572000" y="4572000"/>
            <a:ext cx="320040" cy="320040"/>
          </a:xfrm>
          <a:prstGeom prst="ellipse">
            <a:avLst/>
          </a:prstGeom>
          <a:solidFill>
            <a:srgbClr val="F4F6F8"/>
          </a:solidFill>
          <a:ln w="25400">
            <a:solidFill>
              <a:srgbClr val="E8A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4572000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1400" b="1">
                <a:solidFill>
                  <a:srgbClr val="E8A81C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4480560"/>
            <a:ext cx="27889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1300" b="0">
                <a:solidFill>
                  <a:srgbClr val="1F2A3D"/>
                </a:solidFill>
                <a:latin typeface="Calibri"/>
              </a:defRPr>
            </a:pPr>
            <a:r>
              <a:t>Trend kualitas tebu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8160" y="1005840"/>
            <a:ext cx="370332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38160" y="1005840"/>
            <a:ext cx="3703320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0" y="1143000"/>
            <a:ext cx="914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1143000"/>
            <a:ext cx="23317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BULANAN</a:t>
            </a:r>
          </a:p>
        </p:txBody>
      </p:sp>
      <p:sp>
        <p:nvSpPr>
          <p:cNvPr id="44" name="Oval 43"/>
          <p:cNvSpPr/>
          <p:nvPr/>
        </p:nvSpPr>
        <p:spPr>
          <a:xfrm>
            <a:off x="8412480" y="2240280"/>
            <a:ext cx="320040" cy="320040"/>
          </a:xfrm>
          <a:prstGeom prst="ellipse">
            <a:avLst/>
          </a:prstGeom>
          <a:solidFill>
            <a:srgbClr val="F4F6F8"/>
          </a:solidFill>
          <a:ln w="25400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80" y="2240280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1400" b="1">
                <a:solidFill>
                  <a:srgbClr val="0B2A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69680" y="2148840"/>
            <a:ext cx="27889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1300" b="0">
                <a:solidFill>
                  <a:srgbClr val="1F2A3D"/>
                </a:solidFill>
                <a:latin typeface="Calibri"/>
              </a:defRPr>
            </a:pPr>
            <a:r>
              <a:t>Cash flow &amp; HPP</a:t>
            </a:r>
          </a:p>
        </p:txBody>
      </p:sp>
      <p:sp>
        <p:nvSpPr>
          <p:cNvPr id="47" name="Oval 46"/>
          <p:cNvSpPr/>
          <p:nvPr/>
        </p:nvSpPr>
        <p:spPr>
          <a:xfrm>
            <a:off x="8412480" y="3017520"/>
            <a:ext cx="320040" cy="320040"/>
          </a:xfrm>
          <a:prstGeom prst="ellipse">
            <a:avLst/>
          </a:prstGeom>
          <a:solidFill>
            <a:srgbClr val="F4F6F8"/>
          </a:solidFill>
          <a:ln w="25400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12480" y="3017520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1400" b="1">
                <a:solidFill>
                  <a:srgbClr val="0B2A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69680" y="2926080"/>
            <a:ext cx="27889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1300" b="0">
                <a:solidFill>
                  <a:srgbClr val="1F2A3D"/>
                </a:solidFill>
                <a:latin typeface="Calibri"/>
              </a:defRPr>
            </a:pPr>
            <a:r>
              <a:t>Penjualan &amp; piutang</a:t>
            </a:r>
          </a:p>
        </p:txBody>
      </p:sp>
      <p:sp>
        <p:nvSpPr>
          <p:cNvPr id="50" name="Oval 49"/>
          <p:cNvSpPr/>
          <p:nvPr/>
        </p:nvSpPr>
        <p:spPr>
          <a:xfrm>
            <a:off x="8412480" y="3794760"/>
            <a:ext cx="320040" cy="320040"/>
          </a:xfrm>
          <a:prstGeom prst="ellipse">
            <a:avLst/>
          </a:prstGeom>
          <a:solidFill>
            <a:srgbClr val="F4F6F8"/>
          </a:solidFill>
          <a:ln w="25400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12480" y="3794760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1400" b="1">
                <a:solidFill>
                  <a:srgbClr val="0B2A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69680" y="3703320"/>
            <a:ext cx="27889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1300" b="0">
                <a:solidFill>
                  <a:srgbClr val="1F2A3D"/>
                </a:solidFill>
                <a:latin typeface="Calibri"/>
              </a:defRPr>
            </a:pPr>
            <a:r>
              <a:t>EBITDA margin</a:t>
            </a:r>
          </a:p>
        </p:txBody>
      </p:sp>
      <p:sp>
        <p:nvSpPr>
          <p:cNvPr id="53" name="Oval 52"/>
          <p:cNvSpPr/>
          <p:nvPr/>
        </p:nvSpPr>
        <p:spPr>
          <a:xfrm>
            <a:off x="8412480" y="4572000"/>
            <a:ext cx="320040" cy="320040"/>
          </a:xfrm>
          <a:prstGeom prst="ellipse">
            <a:avLst/>
          </a:prstGeom>
          <a:solidFill>
            <a:srgbClr val="F4F6F8"/>
          </a:solidFill>
          <a:ln w="25400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12480" y="4572000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1400" b="1">
                <a:solidFill>
                  <a:srgbClr val="0B2A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69680" y="4480560"/>
            <a:ext cx="27889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1300" b="0">
                <a:solidFill>
                  <a:srgbClr val="1F2A3D"/>
                </a:solidFill>
                <a:latin typeface="Calibri"/>
              </a:defRPr>
            </a:pPr>
            <a:r>
              <a:t>Realisasi vs budget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200" b="1">
                <a:solidFill>
                  <a:srgbClr val="555B6E"/>
                </a:solidFill>
                <a:latin typeface="Calibri"/>
              </a:defRPr>
            </a:pPr>
            <a:r>
              <a:t>📌  Dashboard SCADA + laporan harian operator + meeting mingguan = sistem kontrol manajemen pabrik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91695" cy="45720"/>
          </a:xfrm>
          <a:prstGeom prst="rect">
            <a:avLst/>
          </a:prstGeom>
          <a:solidFill>
            <a:srgbClr val="E8A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Kesimpulan &amp;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"/>
            <a:ext cx="11887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16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47688"/>
            <a:ext cx="109728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900" b="0">
                <a:solidFill>
                  <a:srgbClr val="555B6E"/>
                </a:solidFill>
                <a:latin typeface="Calibri"/>
              </a:defRPr>
            </a:pPr>
            <a:r>
              <a:t>Overview Alur Bisnis Pabrik Gula  |  Internal 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112471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05840"/>
            <a:ext cx="164592" cy="868680"/>
          </a:xfrm>
          <a:prstGeom prst="rect">
            <a:avLst/>
          </a:prstGeom>
          <a:solidFill>
            <a:srgbClr val="008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1207008"/>
            <a:ext cx="502920" cy="502920"/>
          </a:xfrm>
          <a:prstGeom prst="ellipse">
            <a:avLst/>
          </a:prstGeom>
          <a:solidFill>
            <a:srgbClr val="008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207008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115568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600" b="1">
                <a:solidFill>
                  <a:srgbClr val="0B2A4A"/>
                </a:solidFill>
                <a:latin typeface="Calibri"/>
              </a:defRPr>
            </a:pPr>
            <a:r>
              <a:t>Bisnis terintegrasi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463040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555B6E"/>
                </a:solidFill>
                <a:latin typeface="Calibri"/>
              </a:defRPr>
            </a:pPr>
            <a:r>
              <a:t>Hulu (kebun) → proses (pabrik) → hilir (distribusi)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93392"/>
            <a:ext cx="112471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1993392"/>
            <a:ext cx="164592" cy="868680"/>
          </a:xfrm>
          <a:prstGeom prst="rect">
            <a:avLst/>
          </a:prstGeom>
          <a:solidFill>
            <a:srgbClr val="E8A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" y="2194560"/>
            <a:ext cx="502920" cy="502920"/>
          </a:xfrm>
          <a:prstGeom prst="ellipse">
            <a:avLst/>
          </a:prstGeom>
          <a:solidFill>
            <a:srgbClr val="E8A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19456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10312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600" b="1">
                <a:solidFill>
                  <a:srgbClr val="0B2A4A"/>
                </a:solidFill>
                <a:latin typeface="Calibri"/>
              </a:defRPr>
            </a:pPr>
            <a:r>
              <a:t>Multi revenue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2450592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555B6E"/>
                </a:solidFill>
                <a:latin typeface="Calibri"/>
              </a:defRPr>
            </a:pPr>
            <a:r>
              <a:t>Gula 70–80% + by-product 15–25% (circular economy)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980944"/>
            <a:ext cx="112471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980944"/>
            <a:ext cx="164592" cy="86868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77240" y="3182112"/>
            <a:ext cx="502920" cy="50292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182112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090672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600" b="1">
                <a:solidFill>
                  <a:srgbClr val="0B2A4A"/>
                </a:solidFill>
                <a:latin typeface="Calibri"/>
              </a:defRPr>
            </a:pPr>
            <a:r>
              <a:t>KPI raja: rendemen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3438144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555B6E"/>
                </a:solidFill>
                <a:latin typeface="Calibri"/>
              </a:defRPr>
            </a:pPr>
            <a:r>
              <a:t>Rendemen 8–10%, recovery 92–96%, losses &lt;2,5%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968496"/>
            <a:ext cx="112471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968496"/>
            <a:ext cx="164592" cy="868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77240" y="4169664"/>
            <a:ext cx="502920" cy="5029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169664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4078224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600" b="1">
                <a:solidFill>
                  <a:srgbClr val="0B2A4A"/>
                </a:solidFill>
                <a:latin typeface="Calibri"/>
              </a:defRPr>
            </a:pPr>
            <a:r>
              <a:t>Tantangan utama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4425696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555B6E"/>
                </a:solidFill>
                <a:latin typeface="Calibri"/>
              </a:defRPr>
            </a:pPr>
            <a:r>
              <a:t>Produktivitas, impor, teknologi tua, margin tipis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956048"/>
            <a:ext cx="112471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4956048"/>
            <a:ext cx="164592" cy="8686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7240" y="5157216"/>
            <a:ext cx="502920" cy="502920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157216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5065776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600" b="1">
                <a:solidFill>
                  <a:srgbClr val="0B2A4A"/>
                </a:solidFill>
                <a:latin typeface="Calibri"/>
              </a:defRPr>
            </a:pPr>
            <a:r>
              <a:t>Peluang besar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3040" y="5413248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555B6E"/>
                </a:solidFill>
                <a:latin typeface="Calibri"/>
              </a:defRPr>
            </a:pPr>
            <a:r>
              <a:t>Digitalisasi, modernisasi, co-gen, diversifikasi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6035040"/>
            <a:ext cx="11247120" cy="77724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035040"/>
            <a:ext cx="1124712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Terima kasih  •  Siap menerima pertanyaan &amp; masukan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